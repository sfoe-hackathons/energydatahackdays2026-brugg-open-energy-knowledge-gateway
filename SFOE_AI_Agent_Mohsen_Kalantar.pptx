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332" autoAdjust="0"/>
  </p:normalViewPr>
  <p:slideViewPr>
    <p:cSldViewPr snapToGrid="0" snapToObjects="1">
      <p:cViewPr varScale="1">
        <p:scale>
          <a:sx n="112" d="100"/>
          <a:sy n="112" d="100"/>
        </p:scale>
        <p:origin x="43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4237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60-second pitch:
The SFOE already provides high-quality energy knowledge through the Open Energy Knowledge Gateway. My focus was the intelligent application layer on top of it. Instead of sending every question to the same search, the agent first understands the user's intent and automatically chooses the most suitable retrieval tool — knowledge search, timeline search, or chart and data search. It then retrieves official SFOE evidence and generates an answer with transparent sources. A key design principle is trust: if the available evidence does not support an answer, the system explicitly says so rather than inventing information. In short, the Gateway provides trusted knowledge, and the Agent makes that knowledge easy and reliable to use.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CH" dirty="0"/>
              <a:t>What role does hydropower play in Switzerland?</a:t>
            </a:r>
          </a:p>
          <a:p>
            <a:endParaRPr lang="en-US" dirty="0"/>
          </a:p>
          <a:p>
            <a:endParaRPr lang="en-US" dirty="0"/>
          </a:p>
          <a:p>
            <a:r>
              <a:rPr lang="en-CH" dirty="0"/>
              <a:t>How has solar energy developed in Switzerland?</a:t>
            </a:r>
            <a:endParaRPr lang="en-US" dirty="0"/>
          </a:p>
          <a:p>
            <a:endParaRPr lang="en-US" dirty="0"/>
          </a:p>
          <a:p>
            <a:endParaRPr lang="en-US" dirty="0"/>
          </a:p>
          <a:p>
            <a:r>
              <a:rPr lang="en-CH" dirty="0"/>
              <a:t>A good AI system should not only know how to answer questions; it should also know when the available evidence is not sufficient.</a:t>
            </a:r>
            <a:endParaRPr lang="en-US" dirty="0"/>
          </a:p>
          <a:p>
            <a:endParaRPr lang="en-US" dirty="0"/>
          </a:p>
          <a:p>
            <a:r>
              <a:rPr lang="en-CH" dirty="0"/>
              <a:t>The prototype therefore demonstrates an end-to-end workflow</a:t>
            </a:r>
            <a:endParaRPr lang="en-US" dirty="0"/>
          </a:p>
          <a:p>
            <a:endParaRPr lang="en-US" dirty="0"/>
          </a:p>
          <a:p>
            <a:r>
              <a:rPr lang="en-US" sz="1200" b="1" kern="1200" dirty="0">
                <a:solidFill>
                  <a:schemeClr val="tx1"/>
                </a:solidFill>
                <a:effectLst/>
                <a:latin typeface="+mn-lt"/>
                <a:ea typeface="+mn-ea"/>
                <a:cs typeface="+mn-cs"/>
              </a:rPr>
              <a:t>NVIDIA </a:t>
            </a:r>
            <a:r>
              <a:rPr lang="en-US" sz="1200" b="1" kern="1200" dirty="0" err="1">
                <a:solidFill>
                  <a:schemeClr val="tx1"/>
                </a:solidFill>
                <a:effectLst/>
                <a:latin typeface="+mn-lt"/>
                <a:ea typeface="+mn-ea"/>
                <a:cs typeface="+mn-cs"/>
              </a:rPr>
              <a:t>Nemotron</a:t>
            </a:r>
            <a:r>
              <a:rPr lang="en-US" sz="1200" b="1" kern="1200" dirty="0">
                <a:solidFill>
                  <a:schemeClr val="tx1"/>
                </a:solidFill>
                <a:effectLst/>
                <a:latin typeface="+mn-lt"/>
                <a:ea typeface="+mn-ea"/>
                <a:cs typeface="+mn-cs"/>
              </a:rPr>
              <a:t> 3 Super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D7263D"/>
          </a:solidFill>
          <a:ln w="12700">
            <a:solidFill>
              <a:srgbClr val="D7263D"/>
            </a:solidFill>
            <a:prstDash val="solid"/>
          </a:ln>
        </p:spPr>
        <p:txBody>
          <a:bodyPr/>
          <a:lstStyle/>
          <a:p>
            <a:endParaRPr lang="en-CH"/>
          </a:p>
        </p:txBody>
      </p:sp>
      <p:sp>
        <p:nvSpPr>
          <p:cNvPr id="3" name="Text 1"/>
          <p:cNvSpPr/>
          <p:nvPr/>
        </p:nvSpPr>
        <p:spPr>
          <a:xfrm>
            <a:off x="530352" y="6510528"/>
            <a:ext cx="2926080" cy="164592"/>
          </a:xfrm>
          <a:prstGeom prst="rect">
            <a:avLst/>
          </a:prstGeom>
          <a:noFill/>
          <a:ln/>
        </p:spPr>
        <p:txBody>
          <a:bodyPr wrap="square" lIns="0" tIns="0" rIns="0" bIns="0" rtlCol="0" anchor="ctr"/>
          <a:lstStyle/>
          <a:p>
            <a:pPr marL="0" indent="0">
              <a:buNone/>
            </a:pPr>
            <a:r>
              <a:rPr lang="en-US" sz="750" b="1" kern="0" spc="100" dirty="0">
                <a:solidFill>
                  <a:srgbClr val="8B929E"/>
                </a:solidFill>
                <a:latin typeface="Aptos" pitchFamily="34" charset="0"/>
                <a:ea typeface="Aptos" pitchFamily="34" charset="-122"/>
                <a:cs typeface="Aptos" pitchFamily="34" charset="-120"/>
              </a:rPr>
              <a:t>ENERGY DATA HACKDAYS 2026</a:t>
            </a:r>
            <a:endParaRPr lang="en-US" sz="750" dirty="0"/>
          </a:p>
        </p:txBody>
      </p:sp>
      <p:sp>
        <p:nvSpPr>
          <p:cNvPr id="25" name="Slide Number Placeholder 0"/>
          <p:cNvSpPr>
            <a:spLocks noGrp="1"/>
          </p:cNvSpPr>
          <p:nvPr>
            <p:ph type="sldNum" sz="quarter" idx="4294967295"/>
          </p:nvPr>
        </p:nvSpPr>
        <p:spPr>
          <a:xfrm>
            <a:off x="11411712" y="6473952"/>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A0A6AF"/>
                </a:solidFill>
                <a:latin typeface="Aptos"/>
                <a:ea typeface="Aptos"/>
                <a:cs typeface="Apto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11712" y="6473952"/>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A0A6AF"/>
                </a:solidFill>
                <a:latin typeface="Aptos"/>
                <a:ea typeface="Aptos"/>
                <a:cs typeface="Apto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30352" y="320040"/>
            <a:ext cx="7772400" cy="420624"/>
          </a:xfrm>
          <a:prstGeom prst="rect">
            <a:avLst/>
          </a:prstGeom>
          <a:noFill/>
          <a:ln/>
        </p:spPr>
        <p:txBody>
          <a:bodyPr wrap="square" lIns="0" tIns="0" rIns="0" bIns="0" rtlCol="0" anchor="ctr">
            <a:normAutofit/>
          </a:bodyPr>
          <a:lstStyle/>
          <a:p>
            <a:pPr marL="0" indent="0">
              <a:buNone/>
            </a:pPr>
            <a:r>
              <a:rPr lang="en-US" sz="2600" b="1" dirty="0">
                <a:solidFill>
                  <a:srgbClr val="17202A"/>
                </a:solidFill>
                <a:latin typeface="Aptos Display" pitchFamily="34" charset="0"/>
                <a:ea typeface="Aptos Display" pitchFamily="34" charset="-122"/>
                <a:cs typeface="Aptos Display" pitchFamily="34" charset="-120"/>
              </a:rPr>
              <a:t>SFOE OPEN ENERGY KNOWLEDGE AGENT</a:t>
            </a:r>
            <a:endParaRPr lang="en-US" sz="2600" dirty="0"/>
          </a:p>
        </p:txBody>
      </p:sp>
      <p:sp>
        <p:nvSpPr>
          <p:cNvPr id="3" name="Text 1"/>
          <p:cNvSpPr/>
          <p:nvPr/>
        </p:nvSpPr>
        <p:spPr>
          <a:xfrm>
            <a:off x="548640" y="786384"/>
            <a:ext cx="7132320" cy="283464"/>
          </a:xfrm>
          <a:prstGeom prst="rect">
            <a:avLst/>
          </a:prstGeom>
          <a:noFill/>
          <a:ln/>
        </p:spPr>
        <p:txBody>
          <a:bodyPr wrap="square" lIns="0" tIns="0" rIns="0" bIns="0" rtlCol="0" anchor="ctr">
            <a:normAutofit/>
          </a:bodyPr>
          <a:lstStyle/>
          <a:p>
            <a:pPr marL="0" indent="0" algn="l">
              <a:buNone/>
            </a:pPr>
            <a:r>
              <a:rPr lang="en-US" sz="1350" dirty="0">
                <a:solidFill>
                  <a:srgbClr val="5E6875"/>
                </a:solidFill>
                <a:latin typeface="Aptos" pitchFamily="34" charset="0"/>
                <a:ea typeface="Aptos" pitchFamily="34" charset="-122"/>
                <a:cs typeface="Aptos" pitchFamily="34" charset="-120"/>
              </a:rPr>
              <a:t>One question. The right retrieval tool. A grounded answer.</a:t>
            </a:r>
            <a:endParaRPr lang="en-US" sz="1350" dirty="0"/>
          </a:p>
        </p:txBody>
      </p:sp>
      <p:sp>
        <p:nvSpPr>
          <p:cNvPr id="4" name="Shape 2"/>
          <p:cNvSpPr/>
          <p:nvPr/>
        </p:nvSpPr>
        <p:spPr>
          <a:xfrm>
            <a:off x="6757416" y="384048"/>
            <a:ext cx="4855464" cy="667512"/>
          </a:xfrm>
          <a:prstGeom prst="roundRect">
            <a:avLst>
              <a:gd name="adj" fmla="val 19355"/>
            </a:avLst>
          </a:prstGeom>
          <a:solidFill>
            <a:srgbClr val="FFFFFF"/>
          </a:solidFill>
          <a:ln w="12700">
            <a:solidFill>
              <a:srgbClr val="DCE1E7"/>
            </a:solidFill>
            <a:prstDash val="solid"/>
          </a:ln>
        </p:spPr>
        <p:txBody>
          <a:bodyPr/>
          <a:lstStyle/>
          <a:p>
            <a:endParaRPr lang="en-CH"/>
          </a:p>
        </p:txBody>
      </p:sp>
      <p:sp>
        <p:nvSpPr>
          <p:cNvPr id="5" name="Text 3"/>
          <p:cNvSpPr/>
          <p:nvPr/>
        </p:nvSpPr>
        <p:spPr>
          <a:xfrm>
            <a:off x="8394192" y="466344"/>
            <a:ext cx="1344168" cy="274320"/>
          </a:xfrm>
          <a:prstGeom prst="rect">
            <a:avLst/>
          </a:prstGeom>
          <a:noFill/>
          <a:ln/>
        </p:spPr>
        <p:txBody>
          <a:bodyPr wrap="square" lIns="0" tIns="0" rIns="0" bIns="0" rtlCol="0" anchor="ctr">
            <a:normAutofit/>
          </a:bodyPr>
          <a:lstStyle/>
          <a:p>
            <a:pPr marL="0" indent="0" algn="l">
              <a:buNone/>
            </a:pPr>
            <a:r>
              <a:rPr lang="en-US" sz="1500" b="1" kern="0" spc="100" dirty="0">
                <a:solidFill>
                  <a:srgbClr val="D7263D"/>
                </a:solidFill>
                <a:latin typeface="Aptos" pitchFamily="34" charset="0"/>
                <a:ea typeface="Aptos" pitchFamily="34" charset="-122"/>
                <a:cs typeface="Aptos" pitchFamily="34" charset="-120"/>
              </a:rPr>
              <a:t>MY FOCUS</a:t>
            </a:r>
            <a:endParaRPr lang="en-US" sz="1500" dirty="0"/>
          </a:p>
        </p:txBody>
      </p:sp>
      <p:sp>
        <p:nvSpPr>
          <p:cNvPr id="6" name="Text 4"/>
          <p:cNvSpPr/>
          <p:nvPr/>
        </p:nvSpPr>
        <p:spPr>
          <a:xfrm>
            <a:off x="8302752" y="740664"/>
            <a:ext cx="2578608" cy="356616"/>
          </a:xfrm>
          <a:prstGeom prst="rect">
            <a:avLst/>
          </a:prstGeom>
          <a:noFill/>
          <a:ln/>
        </p:spPr>
        <p:txBody>
          <a:bodyPr wrap="square" lIns="0" tIns="0" rIns="0" bIns="0" rtlCol="0" anchor="ctr">
            <a:normAutofit/>
          </a:bodyPr>
          <a:lstStyle/>
          <a:p>
            <a:pPr marL="0" indent="0" algn="l">
              <a:buNone/>
            </a:pPr>
            <a:r>
              <a:rPr lang="en-US" sz="1400" b="1" dirty="0">
                <a:solidFill>
                  <a:srgbClr val="17202A"/>
                </a:solidFill>
                <a:latin typeface="Aptos" pitchFamily="34" charset="0"/>
                <a:ea typeface="Aptos" pitchFamily="34" charset="-122"/>
                <a:cs typeface="Aptos" pitchFamily="34" charset="-120"/>
              </a:rPr>
              <a:t>AI Agent &amp; retrieval logic</a:t>
            </a:r>
            <a:endParaRPr lang="en-US" sz="1400" dirty="0"/>
          </a:p>
        </p:txBody>
      </p:sp>
      <p:sp>
        <p:nvSpPr>
          <p:cNvPr id="7" name="Shape 5"/>
          <p:cNvSpPr/>
          <p:nvPr/>
        </p:nvSpPr>
        <p:spPr>
          <a:xfrm>
            <a:off x="530352" y="1280160"/>
            <a:ext cx="11109960" cy="4096512"/>
          </a:xfrm>
          <a:prstGeom prst="roundRect">
            <a:avLst>
              <a:gd name="adj" fmla="val 2679"/>
            </a:avLst>
          </a:prstGeom>
          <a:solidFill>
            <a:srgbClr val="FFFFFF"/>
          </a:solidFill>
          <a:ln w="12700">
            <a:solidFill>
              <a:srgbClr val="DCE1E7"/>
            </a:solidFill>
            <a:prstDash val="solid"/>
          </a:ln>
        </p:spPr>
        <p:txBody>
          <a:bodyPr/>
          <a:lstStyle/>
          <a:p>
            <a:endParaRPr lang="en-CH"/>
          </a:p>
        </p:txBody>
      </p:sp>
      <p:sp>
        <p:nvSpPr>
          <p:cNvPr id="8" name="Shape 6"/>
          <p:cNvSpPr/>
          <p:nvPr/>
        </p:nvSpPr>
        <p:spPr>
          <a:xfrm>
            <a:off x="841248" y="2340864"/>
            <a:ext cx="1536192" cy="1005840"/>
          </a:xfrm>
          <a:prstGeom prst="roundRect">
            <a:avLst>
              <a:gd name="adj" fmla="val 10909"/>
            </a:avLst>
          </a:prstGeom>
          <a:solidFill>
            <a:srgbClr val="F4F6F8"/>
          </a:solidFill>
          <a:ln w="12700">
            <a:solidFill>
              <a:srgbClr val="E1E5EA"/>
            </a:solidFill>
            <a:prstDash val="solid"/>
          </a:ln>
        </p:spPr>
        <p:txBody>
          <a:bodyPr/>
          <a:lstStyle/>
          <a:p>
            <a:endParaRPr lang="en-CH"/>
          </a:p>
        </p:txBody>
      </p:sp>
      <p:sp>
        <p:nvSpPr>
          <p:cNvPr id="9" name="Text 7"/>
          <p:cNvSpPr/>
          <p:nvPr/>
        </p:nvSpPr>
        <p:spPr>
          <a:xfrm>
            <a:off x="1042416" y="2487168"/>
            <a:ext cx="1133856" cy="182880"/>
          </a:xfrm>
          <a:prstGeom prst="rect">
            <a:avLst/>
          </a:prstGeom>
          <a:noFill/>
          <a:ln/>
        </p:spPr>
        <p:txBody>
          <a:bodyPr wrap="square" lIns="0" tIns="0" rIns="0" bIns="0" rtlCol="0" anchor="ctr">
            <a:normAutofit/>
          </a:bodyPr>
          <a:lstStyle/>
          <a:p>
            <a:pPr marL="0" indent="0" algn="ctr">
              <a:buNone/>
            </a:pPr>
            <a:r>
              <a:rPr lang="en-US" sz="900" b="1" kern="0" spc="70" dirty="0">
                <a:solidFill>
                  <a:srgbClr val="5E6875"/>
                </a:solidFill>
                <a:latin typeface="Aptos" pitchFamily="34" charset="0"/>
                <a:ea typeface="Aptos" pitchFamily="34" charset="-122"/>
                <a:cs typeface="Aptos" pitchFamily="34" charset="-120"/>
              </a:rPr>
              <a:t>USER</a:t>
            </a:r>
            <a:endParaRPr lang="en-US" sz="900" dirty="0"/>
          </a:p>
        </p:txBody>
      </p:sp>
      <p:sp>
        <p:nvSpPr>
          <p:cNvPr id="10" name="Text 8"/>
          <p:cNvSpPr/>
          <p:nvPr/>
        </p:nvSpPr>
        <p:spPr>
          <a:xfrm>
            <a:off x="987552" y="2724912"/>
            <a:ext cx="1243584" cy="420624"/>
          </a:xfrm>
          <a:prstGeom prst="rect">
            <a:avLst/>
          </a:prstGeom>
          <a:noFill/>
          <a:ln/>
        </p:spPr>
        <p:txBody>
          <a:bodyPr wrap="square" lIns="0" tIns="0" rIns="0" bIns="0" rtlCol="0" anchor="ctr">
            <a:normAutofit fontScale="85000" lnSpcReduction="10000"/>
          </a:bodyPr>
          <a:lstStyle/>
          <a:p>
            <a:pPr marL="0" indent="0" algn="ctr">
              <a:buNone/>
            </a:pPr>
            <a:r>
              <a:rPr lang="en-US" sz="1420" b="1" dirty="0">
                <a:solidFill>
                  <a:srgbClr val="17202A"/>
                </a:solidFill>
                <a:latin typeface="Aptos" pitchFamily="34" charset="0"/>
                <a:ea typeface="Aptos" pitchFamily="34" charset="-122"/>
                <a:cs typeface="Aptos" pitchFamily="34" charset="-120"/>
              </a:rPr>
              <a:t>Natural-language</a:t>
            </a:r>
            <a:endParaRPr lang="en-US" sz="1420" dirty="0"/>
          </a:p>
          <a:p>
            <a:pPr marL="0" indent="0" algn="ctr">
              <a:buNone/>
            </a:pPr>
            <a:r>
              <a:rPr lang="en-US" sz="1420" b="1" dirty="0">
                <a:solidFill>
                  <a:srgbClr val="17202A"/>
                </a:solidFill>
                <a:latin typeface="Aptos" pitchFamily="34" charset="0"/>
                <a:ea typeface="Aptos" pitchFamily="34" charset="-122"/>
                <a:cs typeface="Aptos" pitchFamily="34" charset="-120"/>
              </a:rPr>
              <a:t>question</a:t>
            </a:r>
            <a:endParaRPr lang="en-US" sz="1420" dirty="0"/>
          </a:p>
        </p:txBody>
      </p:sp>
      <p:sp>
        <p:nvSpPr>
          <p:cNvPr id="11" name="Shape 9"/>
          <p:cNvSpPr/>
          <p:nvPr/>
        </p:nvSpPr>
        <p:spPr>
          <a:xfrm>
            <a:off x="2880360" y="1856232"/>
            <a:ext cx="2340864" cy="1975104"/>
          </a:xfrm>
          <a:prstGeom prst="roundRect">
            <a:avLst>
              <a:gd name="adj" fmla="val 5556"/>
            </a:avLst>
          </a:prstGeom>
          <a:solidFill>
            <a:srgbClr val="FBE9EC"/>
          </a:solidFill>
          <a:ln w="12700">
            <a:solidFill>
              <a:srgbClr val="F1BAC2"/>
            </a:solidFill>
            <a:prstDash val="solid"/>
          </a:ln>
        </p:spPr>
        <p:txBody>
          <a:bodyPr/>
          <a:lstStyle/>
          <a:p>
            <a:endParaRPr lang="en-CH"/>
          </a:p>
        </p:txBody>
      </p:sp>
      <p:sp>
        <p:nvSpPr>
          <p:cNvPr id="12" name="Text 10"/>
          <p:cNvSpPr/>
          <p:nvPr/>
        </p:nvSpPr>
        <p:spPr>
          <a:xfrm>
            <a:off x="3182112" y="2084832"/>
            <a:ext cx="1737360" cy="237744"/>
          </a:xfrm>
          <a:prstGeom prst="rect">
            <a:avLst/>
          </a:prstGeom>
          <a:noFill/>
          <a:ln/>
        </p:spPr>
        <p:txBody>
          <a:bodyPr wrap="square" lIns="0" tIns="0" rIns="0" bIns="0" rtlCol="0" anchor="ctr">
            <a:normAutofit lnSpcReduction="10000"/>
          </a:bodyPr>
          <a:lstStyle/>
          <a:p>
            <a:pPr marL="0" indent="0" algn="ctr">
              <a:buNone/>
            </a:pPr>
            <a:r>
              <a:rPr lang="en-US" sz="1700" b="1" dirty="0">
                <a:solidFill>
                  <a:srgbClr val="D7263D"/>
                </a:solidFill>
                <a:latin typeface="Aptos" pitchFamily="34" charset="0"/>
                <a:ea typeface="Aptos" pitchFamily="34" charset="-122"/>
                <a:cs typeface="Aptos" pitchFamily="34" charset="-120"/>
              </a:rPr>
              <a:t>AI AGENT</a:t>
            </a:r>
            <a:endParaRPr lang="en-US" sz="1700" dirty="0"/>
          </a:p>
        </p:txBody>
      </p:sp>
      <p:sp>
        <p:nvSpPr>
          <p:cNvPr id="13" name="Text 11"/>
          <p:cNvSpPr/>
          <p:nvPr/>
        </p:nvSpPr>
        <p:spPr>
          <a:xfrm>
            <a:off x="3227832" y="2496312"/>
            <a:ext cx="1645920" cy="219456"/>
          </a:xfrm>
          <a:prstGeom prst="rect">
            <a:avLst/>
          </a:prstGeom>
          <a:noFill/>
          <a:ln/>
        </p:spPr>
        <p:txBody>
          <a:bodyPr wrap="square" lIns="0" tIns="0" rIns="0" bIns="0" rtlCol="0" anchor="ctr">
            <a:normAutofit/>
          </a:bodyPr>
          <a:lstStyle/>
          <a:p>
            <a:pPr marL="0" indent="0" algn="ctr">
              <a:buNone/>
            </a:pPr>
            <a:r>
              <a:rPr lang="en-US" sz="1120" b="1" dirty="0">
                <a:solidFill>
                  <a:srgbClr val="27313E"/>
                </a:solidFill>
                <a:latin typeface="Aptos" pitchFamily="34" charset="0"/>
                <a:ea typeface="Aptos" pitchFamily="34" charset="-122"/>
                <a:cs typeface="Aptos" pitchFamily="34" charset="-120"/>
              </a:rPr>
              <a:t>understands intent</a:t>
            </a:r>
            <a:endParaRPr lang="en-US" sz="1120" dirty="0"/>
          </a:p>
        </p:txBody>
      </p:sp>
      <p:sp>
        <p:nvSpPr>
          <p:cNvPr id="14" name="Text 12"/>
          <p:cNvSpPr/>
          <p:nvPr/>
        </p:nvSpPr>
        <p:spPr>
          <a:xfrm>
            <a:off x="3154680" y="2770632"/>
            <a:ext cx="1810512" cy="219456"/>
          </a:xfrm>
          <a:prstGeom prst="rect">
            <a:avLst/>
          </a:prstGeom>
          <a:noFill/>
          <a:ln/>
        </p:spPr>
        <p:txBody>
          <a:bodyPr wrap="square" lIns="0" tIns="0" rIns="0" bIns="0" rtlCol="0" anchor="ctr">
            <a:normAutofit/>
          </a:bodyPr>
          <a:lstStyle/>
          <a:p>
            <a:pPr marL="0" indent="0" algn="ctr">
              <a:buNone/>
            </a:pPr>
            <a:r>
              <a:rPr lang="en-US" sz="1120" b="1" dirty="0">
                <a:solidFill>
                  <a:srgbClr val="27313E"/>
                </a:solidFill>
                <a:latin typeface="Aptos" pitchFamily="34" charset="0"/>
                <a:ea typeface="Aptos" pitchFamily="34" charset="-122"/>
                <a:cs typeface="Aptos" pitchFamily="34" charset="-120"/>
              </a:rPr>
              <a:t>selects the best tool</a:t>
            </a:r>
            <a:endParaRPr lang="en-US" sz="1120" dirty="0"/>
          </a:p>
        </p:txBody>
      </p:sp>
      <p:sp>
        <p:nvSpPr>
          <p:cNvPr id="15" name="Text 13"/>
          <p:cNvSpPr/>
          <p:nvPr/>
        </p:nvSpPr>
        <p:spPr>
          <a:xfrm>
            <a:off x="3200400" y="3044952"/>
            <a:ext cx="1719072" cy="219456"/>
          </a:xfrm>
          <a:prstGeom prst="rect">
            <a:avLst/>
          </a:prstGeom>
          <a:noFill/>
          <a:ln/>
        </p:spPr>
        <p:txBody>
          <a:bodyPr wrap="square" lIns="0" tIns="0" rIns="0" bIns="0" rtlCol="0" anchor="ctr">
            <a:normAutofit/>
          </a:bodyPr>
          <a:lstStyle/>
          <a:p>
            <a:pPr marL="0" indent="0" algn="ctr">
              <a:buNone/>
            </a:pPr>
            <a:r>
              <a:rPr lang="en-US" sz="1120" b="1" dirty="0">
                <a:solidFill>
                  <a:srgbClr val="27313E"/>
                </a:solidFill>
                <a:latin typeface="Aptos" pitchFamily="34" charset="0"/>
                <a:ea typeface="Aptos" pitchFamily="34" charset="-122"/>
                <a:cs typeface="Aptos" pitchFamily="34" charset="-120"/>
              </a:rPr>
              <a:t>checks the evidence</a:t>
            </a:r>
            <a:endParaRPr lang="en-US" sz="1120" dirty="0"/>
          </a:p>
        </p:txBody>
      </p:sp>
      <p:sp>
        <p:nvSpPr>
          <p:cNvPr id="16" name="Shape 14"/>
          <p:cNvSpPr/>
          <p:nvPr/>
        </p:nvSpPr>
        <p:spPr>
          <a:xfrm>
            <a:off x="3108960" y="3429000"/>
            <a:ext cx="1874520" cy="73152"/>
          </a:xfrm>
          <a:prstGeom prst="rect">
            <a:avLst/>
          </a:prstGeom>
          <a:solidFill>
            <a:srgbClr val="D7263D"/>
          </a:solidFill>
          <a:ln w="12700">
            <a:solidFill>
              <a:srgbClr val="D7263D"/>
            </a:solidFill>
            <a:prstDash val="solid"/>
          </a:ln>
        </p:spPr>
        <p:txBody>
          <a:bodyPr/>
          <a:lstStyle/>
          <a:p>
            <a:endParaRPr lang="en-CH"/>
          </a:p>
        </p:txBody>
      </p:sp>
      <p:sp>
        <p:nvSpPr>
          <p:cNvPr id="17" name="Shape 15"/>
          <p:cNvSpPr/>
          <p:nvPr/>
        </p:nvSpPr>
        <p:spPr>
          <a:xfrm>
            <a:off x="5742432" y="1627632"/>
            <a:ext cx="2331720" cy="2487168"/>
          </a:xfrm>
          <a:prstGeom prst="roundRect">
            <a:avLst>
              <a:gd name="adj" fmla="val 4706"/>
            </a:avLst>
          </a:prstGeom>
          <a:solidFill>
            <a:srgbClr val="FBFCFD"/>
          </a:solidFill>
          <a:ln w="12700">
            <a:solidFill>
              <a:srgbClr val="D8DEE5"/>
            </a:solidFill>
            <a:prstDash val="solid"/>
          </a:ln>
        </p:spPr>
        <p:txBody>
          <a:bodyPr/>
          <a:lstStyle/>
          <a:p>
            <a:endParaRPr lang="en-CH"/>
          </a:p>
        </p:txBody>
      </p:sp>
      <p:sp>
        <p:nvSpPr>
          <p:cNvPr id="18" name="Text 16"/>
          <p:cNvSpPr/>
          <p:nvPr/>
        </p:nvSpPr>
        <p:spPr>
          <a:xfrm>
            <a:off x="5980176" y="1810512"/>
            <a:ext cx="1856232" cy="210312"/>
          </a:xfrm>
          <a:prstGeom prst="rect">
            <a:avLst/>
          </a:prstGeom>
          <a:noFill/>
          <a:ln/>
        </p:spPr>
        <p:txBody>
          <a:bodyPr wrap="square" lIns="0" tIns="0" rIns="0" bIns="0" rtlCol="0" anchor="ctr">
            <a:normAutofit/>
          </a:bodyPr>
          <a:lstStyle/>
          <a:p>
            <a:pPr marL="0" indent="0" algn="ctr">
              <a:buNone/>
            </a:pPr>
            <a:r>
              <a:rPr lang="en-US" sz="840" b="1" kern="0" spc="80" dirty="0">
                <a:solidFill>
                  <a:srgbClr val="5E6875"/>
                </a:solidFill>
                <a:latin typeface="Aptos" pitchFamily="34" charset="0"/>
                <a:ea typeface="Aptos" pitchFamily="34" charset="-122"/>
                <a:cs typeface="Aptos" pitchFamily="34" charset="-120"/>
              </a:rPr>
              <a:t>AUTOMATIC TOOL SELECTION</a:t>
            </a:r>
            <a:endParaRPr lang="en-US" sz="840" dirty="0"/>
          </a:p>
        </p:txBody>
      </p:sp>
      <p:sp>
        <p:nvSpPr>
          <p:cNvPr id="19" name="Shape 17"/>
          <p:cNvSpPr/>
          <p:nvPr/>
        </p:nvSpPr>
        <p:spPr>
          <a:xfrm>
            <a:off x="6016752" y="2157984"/>
            <a:ext cx="1783080" cy="448056"/>
          </a:xfrm>
          <a:prstGeom prst="roundRect">
            <a:avLst>
              <a:gd name="adj" fmla="val 24490"/>
            </a:avLst>
          </a:prstGeom>
          <a:solidFill>
            <a:srgbClr val="EAF2FD"/>
          </a:solidFill>
          <a:ln w="12700">
            <a:solidFill>
              <a:srgbClr val="C7DCF8"/>
            </a:solidFill>
            <a:prstDash val="solid"/>
          </a:ln>
        </p:spPr>
        <p:txBody>
          <a:bodyPr/>
          <a:lstStyle/>
          <a:p>
            <a:endParaRPr lang="en-CH"/>
          </a:p>
        </p:txBody>
      </p:sp>
      <p:sp>
        <p:nvSpPr>
          <p:cNvPr id="20" name="Text 18"/>
          <p:cNvSpPr/>
          <p:nvPr/>
        </p:nvSpPr>
        <p:spPr>
          <a:xfrm>
            <a:off x="6208776" y="2267712"/>
            <a:ext cx="1399032" cy="164592"/>
          </a:xfrm>
          <a:prstGeom prst="rect">
            <a:avLst/>
          </a:prstGeom>
          <a:noFill/>
          <a:ln/>
        </p:spPr>
        <p:txBody>
          <a:bodyPr wrap="square" lIns="0" tIns="0" rIns="0" bIns="0" rtlCol="0" anchor="ctr">
            <a:normAutofit/>
          </a:bodyPr>
          <a:lstStyle/>
          <a:p>
            <a:pPr marL="0" indent="0" algn="ctr">
              <a:buNone/>
            </a:pPr>
            <a:r>
              <a:rPr lang="en-US" sz="1080" b="1" dirty="0">
                <a:solidFill>
                  <a:srgbClr val="246BCE"/>
                </a:solidFill>
                <a:latin typeface="Aptos" pitchFamily="34" charset="0"/>
                <a:ea typeface="Aptos" pitchFamily="34" charset="-122"/>
                <a:cs typeface="Aptos" pitchFamily="34" charset="-120"/>
              </a:rPr>
              <a:t>Knowledge Search</a:t>
            </a:r>
            <a:endParaRPr lang="en-US" sz="1080" dirty="0"/>
          </a:p>
        </p:txBody>
      </p:sp>
      <p:sp>
        <p:nvSpPr>
          <p:cNvPr id="21" name="Shape 19"/>
          <p:cNvSpPr/>
          <p:nvPr/>
        </p:nvSpPr>
        <p:spPr>
          <a:xfrm>
            <a:off x="6016752" y="2761488"/>
            <a:ext cx="1783080" cy="448056"/>
          </a:xfrm>
          <a:prstGeom prst="roundRect">
            <a:avLst>
              <a:gd name="adj" fmla="val 24490"/>
            </a:avLst>
          </a:prstGeom>
          <a:solidFill>
            <a:srgbClr val="E8F6EF"/>
          </a:solidFill>
          <a:ln w="12700">
            <a:solidFill>
              <a:srgbClr val="C7E9D7"/>
            </a:solidFill>
            <a:prstDash val="solid"/>
          </a:ln>
        </p:spPr>
        <p:txBody>
          <a:bodyPr/>
          <a:lstStyle/>
          <a:p>
            <a:endParaRPr lang="en-CH"/>
          </a:p>
        </p:txBody>
      </p:sp>
      <p:sp>
        <p:nvSpPr>
          <p:cNvPr id="22" name="Text 20"/>
          <p:cNvSpPr/>
          <p:nvPr/>
        </p:nvSpPr>
        <p:spPr>
          <a:xfrm>
            <a:off x="6199632" y="2871216"/>
            <a:ext cx="1426464" cy="164592"/>
          </a:xfrm>
          <a:prstGeom prst="rect">
            <a:avLst/>
          </a:prstGeom>
          <a:noFill/>
          <a:ln/>
        </p:spPr>
        <p:txBody>
          <a:bodyPr wrap="square" lIns="0" tIns="0" rIns="0" bIns="0" rtlCol="0" anchor="ctr">
            <a:normAutofit/>
          </a:bodyPr>
          <a:lstStyle/>
          <a:p>
            <a:pPr marL="0" indent="0" algn="ctr">
              <a:buNone/>
            </a:pPr>
            <a:r>
              <a:rPr lang="en-US" sz="1080" b="1" dirty="0">
                <a:solidFill>
                  <a:srgbClr val="238A57"/>
                </a:solidFill>
                <a:latin typeface="Aptos" pitchFamily="34" charset="0"/>
                <a:ea typeface="Aptos" pitchFamily="34" charset="-122"/>
                <a:cs typeface="Aptos" pitchFamily="34" charset="-120"/>
              </a:rPr>
              <a:t>Timeline Search</a:t>
            </a:r>
            <a:endParaRPr lang="en-US" sz="1080" dirty="0"/>
          </a:p>
        </p:txBody>
      </p:sp>
      <p:sp>
        <p:nvSpPr>
          <p:cNvPr id="23" name="Shape 21"/>
          <p:cNvSpPr/>
          <p:nvPr/>
        </p:nvSpPr>
        <p:spPr>
          <a:xfrm>
            <a:off x="6016752" y="3364992"/>
            <a:ext cx="1783080" cy="448056"/>
          </a:xfrm>
          <a:prstGeom prst="roundRect">
            <a:avLst>
              <a:gd name="adj" fmla="val 24490"/>
            </a:avLst>
          </a:prstGeom>
          <a:solidFill>
            <a:srgbClr val="FFF3DC"/>
          </a:solidFill>
          <a:ln w="12700">
            <a:solidFill>
              <a:srgbClr val="F0D89E"/>
            </a:solidFill>
            <a:prstDash val="solid"/>
          </a:ln>
        </p:spPr>
        <p:txBody>
          <a:bodyPr/>
          <a:lstStyle/>
          <a:p>
            <a:endParaRPr lang="en-CH"/>
          </a:p>
        </p:txBody>
      </p:sp>
      <p:sp>
        <p:nvSpPr>
          <p:cNvPr id="24" name="Text 22"/>
          <p:cNvSpPr/>
          <p:nvPr/>
        </p:nvSpPr>
        <p:spPr>
          <a:xfrm>
            <a:off x="6126480" y="3474720"/>
            <a:ext cx="1563624" cy="164592"/>
          </a:xfrm>
          <a:prstGeom prst="rect">
            <a:avLst/>
          </a:prstGeom>
          <a:noFill/>
          <a:ln/>
        </p:spPr>
        <p:txBody>
          <a:bodyPr wrap="square" lIns="0" tIns="0" rIns="0" bIns="0" rtlCol="0" anchor="ctr">
            <a:normAutofit/>
          </a:bodyPr>
          <a:lstStyle/>
          <a:p>
            <a:pPr marL="0" indent="0" algn="ctr">
              <a:buNone/>
            </a:pPr>
            <a:r>
              <a:rPr lang="en-US" sz="1050" b="1" dirty="0">
                <a:solidFill>
                  <a:srgbClr val="B97600"/>
                </a:solidFill>
                <a:latin typeface="Aptos" pitchFamily="34" charset="0"/>
                <a:ea typeface="Aptos" pitchFamily="34" charset="-122"/>
                <a:cs typeface="Aptos" pitchFamily="34" charset="-120"/>
              </a:rPr>
              <a:t>Chart / Data Search</a:t>
            </a:r>
            <a:endParaRPr lang="en-US" sz="1050" dirty="0"/>
          </a:p>
        </p:txBody>
      </p:sp>
      <p:sp>
        <p:nvSpPr>
          <p:cNvPr id="25" name="Shape 23"/>
          <p:cNvSpPr/>
          <p:nvPr/>
        </p:nvSpPr>
        <p:spPr>
          <a:xfrm>
            <a:off x="8567928" y="2075688"/>
            <a:ext cx="1371600" cy="1545336"/>
          </a:xfrm>
          <a:prstGeom prst="roundRect">
            <a:avLst>
              <a:gd name="adj" fmla="val 8000"/>
            </a:avLst>
          </a:prstGeom>
          <a:solidFill>
            <a:srgbClr val="F4F6F8"/>
          </a:solidFill>
          <a:ln w="12700">
            <a:solidFill>
              <a:srgbClr val="DDE2E8"/>
            </a:solidFill>
            <a:prstDash val="solid"/>
          </a:ln>
        </p:spPr>
        <p:txBody>
          <a:bodyPr/>
          <a:lstStyle/>
          <a:p>
            <a:endParaRPr lang="en-CH"/>
          </a:p>
        </p:txBody>
      </p:sp>
      <p:sp>
        <p:nvSpPr>
          <p:cNvPr id="26" name="Text 24"/>
          <p:cNvSpPr/>
          <p:nvPr/>
        </p:nvSpPr>
        <p:spPr>
          <a:xfrm>
            <a:off x="8769096" y="2286000"/>
            <a:ext cx="960120" cy="164592"/>
          </a:xfrm>
          <a:prstGeom prst="rect">
            <a:avLst/>
          </a:prstGeom>
          <a:noFill/>
          <a:ln/>
        </p:spPr>
        <p:txBody>
          <a:bodyPr wrap="square" lIns="0" tIns="0" rIns="0" bIns="0" rtlCol="0" anchor="ctr">
            <a:normAutofit/>
          </a:bodyPr>
          <a:lstStyle/>
          <a:p>
            <a:pPr marL="0" indent="0" algn="ctr">
              <a:buNone/>
            </a:pPr>
            <a:r>
              <a:rPr lang="en-US" sz="850" b="1" kern="0" spc="80" dirty="0">
                <a:solidFill>
                  <a:srgbClr val="5E6875"/>
                </a:solidFill>
                <a:latin typeface="Aptos" pitchFamily="34" charset="0"/>
                <a:ea typeface="Aptos" pitchFamily="34" charset="-122"/>
                <a:cs typeface="Aptos" pitchFamily="34" charset="-120"/>
              </a:rPr>
              <a:t>TRUSTED</a:t>
            </a:r>
            <a:endParaRPr lang="en-US" sz="850" dirty="0"/>
          </a:p>
        </p:txBody>
      </p:sp>
      <p:sp>
        <p:nvSpPr>
          <p:cNvPr id="27" name="Text 25"/>
          <p:cNvSpPr/>
          <p:nvPr/>
        </p:nvSpPr>
        <p:spPr>
          <a:xfrm>
            <a:off x="8814816" y="2532888"/>
            <a:ext cx="877824" cy="256032"/>
          </a:xfrm>
          <a:prstGeom prst="rect">
            <a:avLst/>
          </a:prstGeom>
          <a:noFill/>
          <a:ln/>
        </p:spPr>
        <p:txBody>
          <a:bodyPr wrap="square" lIns="0" tIns="0" rIns="0" bIns="0" rtlCol="0" anchor="ctr">
            <a:normAutofit lnSpcReduction="10000"/>
          </a:bodyPr>
          <a:lstStyle/>
          <a:p>
            <a:pPr marL="0" indent="0" algn="ctr">
              <a:buNone/>
            </a:pPr>
            <a:r>
              <a:rPr lang="en-US" sz="1850" b="1" dirty="0">
                <a:solidFill>
                  <a:srgbClr val="17202A"/>
                </a:solidFill>
                <a:latin typeface="Aptos" pitchFamily="34" charset="0"/>
                <a:ea typeface="Aptos" pitchFamily="34" charset="-122"/>
                <a:cs typeface="Aptos" pitchFamily="34" charset="-120"/>
              </a:rPr>
              <a:t>SFOE</a:t>
            </a:r>
            <a:endParaRPr lang="en-US" sz="1850" dirty="0"/>
          </a:p>
        </p:txBody>
      </p:sp>
      <p:sp>
        <p:nvSpPr>
          <p:cNvPr id="28" name="Text 26"/>
          <p:cNvSpPr/>
          <p:nvPr/>
        </p:nvSpPr>
        <p:spPr>
          <a:xfrm>
            <a:off x="8741664" y="2834640"/>
            <a:ext cx="1033272" cy="219456"/>
          </a:xfrm>
          <a:prstGeom prst="rect">
            <a:avLst/>
          </a:prstGeom>
          <a:noFill/>
          <a:ln/>
        </p:spPr>
        <p:txBody>
          <a:bodyPr wrap="square" lIns="0" tIns="0" rIns="0" bIns="0" rtlCol="0" anchor="ctr">
            <a:normAutofit/>
          </a:bodyPr>
          <a:lstStyle/>
          <a:p>
            <a:pPr marL="0" indent="0" algn="ctr">
              <a:buNone/>
            </a:pPr>
            <a:r>
              <a:rPr lang="en-US" sz="1220" b="1" dirty="0">
                <a:solidFill>
                  <a:srgbClr val="17202A"/>
                </a:solidFill>
                <a:latin typeface="Aptos" pitchFamily="34" charset="0"/>
                <a:ea typeface="Aptos" pitchFamily="34" charset="-122"/>
                <a:cs typeface="Aptos" pitchFamily="34" charset="-120"/>
              </a:rPr>
              <a:t>evidence</a:t>
            </a:r>
            <a:endParaRPr lang="en-US" sz="1220" dirty="0"/>
          </a:p>
        </p:txBody>
      </p:sp>
      <p:sp>
        <p:nvSpPr>
          <p:cNvPr id="29" name="Text 27"/>
          <p:cNvSpPr/>
          <p:nvPr/>
        </p:nvSpPr>
        <p:spPr>
          <a:xfrm>
            <a:off x="8714232" y="3200400"/>
            <a:ext cx="1078992" cy="164592"/>
          </a:xfrm>
          <a:prstGeom prst="rect">
            <a:avLst/>
          </a:prstGeom>
          <a:noFill/>
          <a:ln/>
        </p:spPr>
        <p:txBody>
          <a:bodyPr wrap="square" lIns="0" tIns="0" rIns="0" bIns="0" rtlCol="0" anchor="ctr">
            <a:normAutofit/>
          </a:bodyPr>
          <a:lstStyle/>
          <a:p>
            <a:pPr marL="0" indent="0" algn="ctr">
              <a:buNone/>
            </a:pPr>
            <a:r>
              <a:rPr lang="en-US" sz="880" dirty="0">
                <a:solidFill>
                  <a:srgbClr val="5E6875"/>
                </a:solidFill>
                <a:latin typeface="Aptos" pitchFamily="34" charset="0"/>
                <a:ea typeface="Aptos" pitchFamily="34" charset="-122"/>
                <a:cs typeface="Aptos" pitchFamily="34" charset="-120"/>
              </a:rPr>
              <a:t>official sources</a:t>
            </a:r>
            <a:endParaRPr lang="en-US" sz="880" dirty="0"/>
          </a:p>
        </p:txBody>
      </p:sp>
      <p:sp>
        <p:nvSpPr>
          <p:cNvPr id="30" name="Shape 28"/>
          <p:cNvSpPr/>
          <p:nvPr/>
        </p:nvSpPr>
        <p:spPr>
          <a:xfrm>
            <a:off x="10332720" y="2194560"/>
            <a:ext cx="978408" cy="1307592"/>
          </a:xfrm>
          <a:prstGeom prst="roundRect">
            <a:avLst>
              <a:gd name="adj" fmla="val 11215"/>
            </a:avLst>
          </a:prstGeom>
          <a:solidFill>
            <a:srgbClr val="E8F6EF"/>
          </a:solidFill>
          <a:ln w="12700">
            <a:solidFill>
              <a:srgbClr val="C5E7D4"/>
            </a:solidFill>
            <a:prstDash val="solid"/>
          </a:ln>
        </p:spPr>
        <p:txBody>
          <a:bodyPr/>
          <a:lstStyle/>
          <a:p>
            <a:endParaRPr lang="en-CH"/>
          </a:p>
        </p:txBody>
      </p:sp>
      <p:sp>
        <p:nvSpPr>
          <p:cNvPr id="31" name="Text 29"/>
          <p:cNvSpPr/>
          <p:nvPr/>
        </p:nvSpPr>
        <p:spPr>
          <a:xfrm>
            <a:off x="10488168" y="2432304"/>
            <a:ext cx="667512" cy="155448"/>
          </a:xfrm>
          <a:prstGeom prst="rect">
            <a:avLst/>
          </a:prstGeom>
          <a:noFill/>
          <a:ln/>
        </p:spPr>
        <p:txBody>
          <a:bodyPr wrap="square" lIns="0" tIns="0" rIns="0" bIns="0" rtlCol="0" anchor="ctr">
            <a:normAutofit/>
          </a:bodyPr>
          <a:lstStyle/>
          <a:p>
            <a:pPr marL="0" indent="0" algn="ctr">
              <a:buNone/>
            </a:pPr>
            <a:r>
              <a:rPr lang="en-US" sz="830" b="1" kern="0" spc="90" dirty="0">
                <a:solidFill>
                  <a:srgbClr val="238A57"/>
                </a:solidFill>
                <a:latin typeface="Aptos" pitchFamily="34" charset="0"/>
                <a:ea typeface="Aptos" pitchFamily="34" charset="-122"/>
                <a:cs typeface="Aptos" pitchFamily="34" charset="-120"/>
              </a:rPr>
              <a:t>ANSWER</a:t>
            </a:r>
            <a:endParaRPr lang="en-US" sz="830" dirty="0"/>
          </a:p>
        </p:txBody>
      </p:sp>
      <p:sp>
        <p:nvSpPr>
          <p:cNvPr id="32" name="Text 30"/>
          <p:cNvSpPr/>
          <p:nvPr/>
        </p:nvSpPr>
        <p:spPr>
          <a:xfrm>
            <a:off x="10661904" y="2679192"/>
            <a:ext cx="301752" cy="219456"/>
          </a:xfrm>
          <a:prstGeom prst="rect">
            <a:avLst/>
          </a:prstGeom>
          <a:noFill/>
          <a:ln/>
        </p:spPr>
        <p:txBody>
          <a:bodyPr wrap="square" lIns="0" tIns="0" rIns="0" bIns="0" rtlCol="0" anchor="ctr">
            <a:normAutofit fontScale="92500" lnSpcReduction="20000"/>
          </a:bodyPr>
          <a:lstStyle/>
          <a:p>
            <a:pPr marL="0" indent="0" algn="ctr">
              <a:buNone/>
            </a:pPr>
            <a:r>
              <a:rPr lang="en-US" sz="1800" b="1" dirty="0">
                <a:solidFill>
                  <a:srgbClr val="238A57"/>
                </a:solidFill>
                <a:latin typeface="Aptos" pitchFamily="34" charset="0"/>
                <a:ea typeface="Aptos" pitchFamily="34" charset="-122"/>
                <a:cs typeface="Aptos" pitchFamily="34" charset="-120"/>
              </a:rPr>
              <a:t>+</a:t>
            </a:r>
            <a:endParaRPr lang="en-US" sz="1800" dirty="0"/>
          </a:p>
        </p:txBody>
      </p:sp>
      <p:sp>
        <p:nvSpPr>
          <p:cNvPr id="33" name="Text 31"/>
          <p:cNvSpPr/>
          <p:nvPr/>
        </p:nvSpPr>
        <p:spPr>
          <a:xfrm>
            <a:off x="10469880" y="2953512"/>
            <a:ext cx="694944" cy="173736"/>
          </a:xfrm>
          <a:prstGeom prst="rect">
            <a:avLst/>
          </a:prstGeom>
          <a:noFill/>
          <a:ln/>
        </p:spPr>
        <p:txBody>
          <a:bodyPr wrap="square" lIns="0" tIns="0" rIns="0" bIns="0" rtlCol="0" anchor="ctr">
            <a:normAutofit/>
          </a:bodyPr>
          <a:lstStyle/>
          <a:p>
            <a:pPr marL="0" indent="0" algn="ctr">
              <a:buNone/>
            </a:pPr>
            <a:r>
              <a:rPr lang="en-US" sz="1120" b="1" dirty="0">
                <a:solidFill>
                  <a:srgbClr val="17202A"/>
                </a:solidFill>
                <a:latin typeface="Aptos" pitchFamily="34" charset="0"/>
                <a:ea typeface="Aptos" pitchFamily="34" charset="-122"/>
                <a:cs typeface="Aptos" pitchFamily="34" charset="-120"/>
              </a:rPr>
              <a:t>sources</a:t>
            </a:r>
            <a:endParaRPr lang="en-US" sz="1120" dirty="0"/>
          </a:p>
        </p:txBody>
      </p:sp>
      <p:sp>
        <p:nvSpPr>
          <p:cNvPr id="34" name="Shape 32"/>
          <p:cNvSpPr/>
          <p:nvPr/>
        </p:nvSpPr>
        <p:spPr>
          <a:xfrm>
            <a:off x="2395728" y="2843784"/>
            <a:ext cx="420624" cy="0"/>
          </a:xfrm>
          <a:prstGeom prst="line">
            <a:avLst/>
          </a:prstGeom>
          <a:noFill/>
          <a:ln w="33020">
            <a:solidFill>
              <a:srgbClr val="D7263D"/>
            </a:solidFill>
            <a:prstDash val="solid"/>
            <a:headEnd type="none"/>
            <a:tailEnd type="triangle"/>
          </a:ln>
        </p:spPr>
        <p:txBody>
          <a:bodyPr/>
          <a:lstStyle/>
          <a:p>
            <a:endParaRPr lang="en-CH"/>
          </a:p>
        </p:txBody>
      </p:sp>
      <p:sp>
        <p:nvSpPr>
          <p:cNvPr id="35" name="Shape 33"/>
          <p:cNvSpPr/>
          <p:nvPr/>
        </p:nvSpPr>
        <p:spPr>
          <a:xfrm>
            <a:off x="5248656" y="2843784"/>
            <a:ext cx="429768" cy="0"/>
          </a:xfrm>
          <a:prstGeom prst="line">
            <a:avLst/>
          </a:prstGeom>
          <a:noFill/>
          <a:ln w="33020">
            <a:solidFill>
              <a:srgbClr val="D7263D"/>
            </a:solidFill>
            <a:prstDash val="solid"/>
            <a:headEnd type="none"/>
            <a:tailEnd type="triangle"/>
          </a:ln>
        </p:spPr>
        <p:txBody>
          <a:bodyPr/>
          <a:lstStyle/>
          <a:p>
            <a:endParaRPr lang="en-CH"/>
          </a:p>
        </p:txBody>
      </p:sp>
      <p:sp>
        <p:nvSpPr>
          <p:cNvPr id="36" name="Shape 34"/>
          <p:cNvSpPr/>
          <p:nvPr/>
        </p:nvSpPr>
        <p:spPr>
          <a:xfrm>
            <a:off x="8119872" y="2843784"/>
            <a:ext cx="393192" cy="0"/>
          </a:xfrm>
          <a:prstGeom prst="line">
            <a:avLst/>
          </a:prstGeom>
          <a:noFill/>
          <a:ln w="29210">
            <a:solidFill>
              <a:srgbClr val="7F8995"/>
            </a:solidFill>
            <a:prstDash val="solid"/>
            <a:headEnd type="none"/>
            <a:tailEnd type="triangle"/>
          </a:ln>
        </p:spPr>
        <p:txBody>
          <a:bodyPr/>
          <a:lstStyle/>
          <a:p>
            <a:endParaRPr lang="en-CH"/>
          </a:p>
        </p:txBody>
      </p:sp>
      <p:sp>
        <p:nvSpPr>
          <p:cNvPr id="37" name="Shape 35"/>
          <p:cNvSpPr/>
          <p:nvPr/>
        </p:nvSpPr>
        <p:spPr>
          <a:xfrm>
            <a:off x="9985248" y="2843784"/>
            <a:ext cx="292608" cy="0"/>
          </a:xfrm>
          <a:prstGeom prst="line">
            <a:avLst/>
          </a:prstGeom>
          <a:noFill/>
          <a:ln w="30480">
            <a:solidFill>
              <a:srgbClr val="238A57"/>
            </a:solidFill>
            <a:prstDash val="solid"/>
            <a:headEnd type="none"/>
            <a:tailEnd type="triangle"/>
          </a:ln>
        </p:spPr>
        <p:txBody>
          <a:bodyPr/>
          <a:lstStyle/>
          <a:p>
            <a:endParaRPr lang="en-CH"/>
          </a:p>
        </p:txBody>
      </p:sp>
      <p:sp>
        <p:nvSpPr>
          <p:cNvPr id="38" name="Shape 36"/>
          <p:cNvSpPr/>
          <p:nvPr/>
        </p:nvSpPr>
        <p:spPr>
          <a:xfrm>
            <a:off x="2880360" y="4206240"/>
            <a:ext cx="7516368" cy="658368"/>
          </a:xfrm>
          <a:prstGeom prst="roundRect">
            <a:avLst>
              <a:gd name="adj" fmla="val 16667"/>
            </a:avLst>
          </a:prstGeom>
          <a:solidFill>
            <a:srgbClr val="FFF9FA"/>
          </a:solidFill>
          <a:ln w="12700">
            <a:solidFill>
              <a:srgbClr val="F0CED3"/>
            </a:solidFill>
            <a:prstDash val="solid"/>
          </a:ln>
        </p:spPr>
        <p:txBody>
          <a:bodyPr/>
          <a:lstStyle/>
          <a:p>
            <a:endParaRPr lang="en-CH"/>
          </a:p>
        </p:txBody>
      </p:sp>
      <p:sp>
        <p:nvSpPr>
          <p:cNvPr id="39" name="Text 37"/>
          <p:cNvSpPr/>
          <p:nvPr/>
        </p:nvSpPr>
        <p:spPr>
          <a:xfrm>
            <a:off x="3035808" y="4428742"/>
            <a:ext cx="932688" cy="164592"/>
          </a:xfrm>
          <a:prstGeom prst="rect">
            <a:avLst/>
          </a:prstGeom>
          <a:noFill/>
          <a:ln/>
        </p:spPr>
        <p:txBody>
          <a:bodyPr wrap="square" lIns="0" tIns="0" rIns="0" bIns="0" rtlCol="0" anchor="ctr">
            <a:normAutofit/>
          </a:bodyPr>
          <a:lstStyle/>
          <a:p>
            <a:pPr marL="0" indent="0" algn="l">
              <a:buNone/>
            </a:pPr>
            <a:r>
              <a:rPr lang="en-US" sz="910" b="1" dirty="0">
                <a:solidFill>
                  <a:srgbClr val="D7263D"/>
                </a:solidFill>
                <a:latin typeface="Aptos" pitchFamily="34" charset="0"/>
                <a:ea typeface="Aptos" pitchFamily="34" charset="-122"/>
                <a:cs typeface="Aptos" pitchFamily="34" charset="-120"/>
              </a:rPr>
              <a:t>Trust rule</a:t>
            </a:r>
            <a:endParaRPr lang="en-US" sz="910" dirty="0"/>
          </a:p>
        </p:txBody>
      </p:sp>
      <p:sp>
        <p:nvSpPr>
          <p:cNvPr id="40" name="Text 38"/>
          <p:cNvSpPr/>
          <p:nvPr/>
        </p:nvSpPr>
        <p:spPr>
          <a:xfrm>
            <a:off x="3764280" y="4309871"/>
            <a:ext cx="6720840" cy="402335"/>
          </a:xfrm>
          <a:prstGeom prst="rect">
            <a:avLst/>
          </a:prstGeom>
          <a:noFill/>
          <a:ln/>
        </p:spPr>
        <p:txBody>
          <a:bodyPr wrap="square" lIns="0" tIns="0" rIns="0" bIns="0" rtlCol="0" anchor="ctr">
            <a:normAutofit/>
          </a:bodyPr>
          <a:lstStyle/>
          <a:p>
            <a:pPr marL="0" indent="0" algn="l">
              <a:buNone/>
            </a:pPr>
            <a:r>
              <a:rPr lang="en-US" sz="1200" b="1" dirty="0">
                <a:solidFill>
                  <a:srgbClr val="17202A"/>
                </a:solidFill>
                <a:latin typeface="Aptos" pitchFamily="34" charset="0"/>
                <a:ea typeface="Aptos" pitchFamily="34" charset="-122"/>
                <a:cs typeface="Aptos" pitchFamily="34" charset="-120"/>
              </a:rPr>
              <a:t>If the SFOE evidence does not support an answer, the agent says so — instead of inventing one.</a:t>
            </a:r>
            <a:endParaRPr lang="en-US" sz="1200" dirty="0"/>
          </a:p>
        </p:txBody>
      </p:sp>
      <p:sp>
        <p:nvSpPr>
          <p:cNvPr id="41" name="Shape 39"/>
          <p:cNvSpPr/>
          <p:nvPr/>
        </p:nvSpPr>
        <p:spPr>
          <a:xfrm>
            <a:off x="667512" y="5614416"/>
            <a:ext cx="2359152" cy="621792"/>
          </a:xfrm>
          <a:prstGeom prst="roundRect">
            <a:avLst>
              <a:gd name="adj" fmla="val 17647"/>
            </a:avLst>
          </a:prstGeom>
          <a:solidFill>
            <a:srgbClr val="FFFFFF"/>
          </a:solidFill>
          <a:ln w="12700">
            <a:solidFill>
              <a:srgbClr val="DCE1E7"/>
            </a:solidFill>
            <a:prstDash val="solid"/>
          </a:ln>
        </p:spPr>
        <p:txBody>
          <a:bodyPr/>
          <a:lstStyle/>
          <a:p>
            <a:endParaRPr lang="en-CH"/>
          </a:p>
        </p:txBody>
      </p:sp>
      <p:sp>
        <p:nvSpPr>
          <p:cNvPr id="43" name="Text 41"/>
          <p:cNvSpPr/>
          <p:nvPr/>
        </p:nvSpPr>
        <p:spPr>
          <a:xfrm>
            <a:off x="813816" y="5760720"/>
            <a:ext cx="292608" cy="292608"/>
          </a:xfrm>
          <a:prstGeom prst="rect">
            <a:avLst/>
          </a:prstGeom>
          <a:noFill/>
          <a:ln/>
        </p:spPr>
        <p:txBody>
          <a:bodyPr wrap="square" lIns="0" tIns="0" rIns="0" bIns="0" rtlCol="0" anchor="ctr">
            <a:normAutofit/>
          </a:bodyPr>
          <a:lstStyle/>
          <a:p>
            <a:pPr marL="0" indent="0" algn="ctr">
              <a:buNone/>
            </a:pPr>
            <a:r>
              <a:rPr lang="en-US" sz="930" b="1" dirty="0">
                <a:solidFill>
                  <a:srgbClr val="FFFFFF"/>
                </a:solidFill>
                <a:latin typeface="Aptos" pitchFamily="34" charset="0"/>
                <a:ea typeface="Aptos" pitchFamily="34" charset="-122"/>
                <a:cs typeface="Aptos" pitchFamily="34" charset="-120"/>
              </a:rPr>
              <a:t>1</a:t>
            </a:r>
            <a:endParaRPr lang="en-US" sz="930" dirty="0"/>
          </a:p>
        </p:txBody>
      </p:sp>
      <p:sp>
        <p:nvSpPr>
          <p:cNvPr id="44" name="Text 42"/>
          <p:cNvSpPr/>
          <p:nvPr/>
        </p:nvSpPr>
        <p:spPr>
          <a:xfrm>
            <a:off x="1216152" y="5696712"/>
            <a:ext cx="1645920" cy="173736"/>
          </a:xfrm>
          <a:prstGeom prst="rect">
            <a:avLst/>
          </a:prstGeom>
          <a:noFill/>
          <a:ln/>
        </p:spPr>
        <p:txBody>
          <a:bodyPr wrap="square" lIns="0" tIns="0" rIns="0" bIns="0" rtlCol="0" anchor="ctr">
            <a:normAutofit/>
          </a:bodyPr>
          <a:lstStyle/>
          <a:p>
            <a:pPr marL="0" indent="0" algn="l">
              <a:buNone/>
            </a:pPr>
            <a:r>
              <a:rPr lang="en-US" sz="1010" b="1" dirty="0">
                <a:solidFill>
                  <a:srgbClr val="17202A"/>
                </a:solidFill>
                <a:latin typeface="Aptos" pitchFamily="34" charset="0"/>
                <a:ea typeface="Aptos" pitchFamily="34" charset="-122"/>
                <a:cs typeface="Aptos" pitchFamily="34" charset="-120"/>
              </a:rPr>
              <a:t>No tool knowledge needed</a:t>
            </a:r>
            <a:endParaRPr lang="en-US" sz="1010" dirty="0"/>
          </a:p>
        </p:txBody>
      </p:sp>
      <p:sp>
        <p:nvSpPr>
          <p:cNvPr id="45" name="Text 43"/>
          <p:cNvSpPr/>
          <p:nvPr/>
        </p:nvSpPr>
        <p:spPr>
          <a:xfrm>
            <a:off x="1216152" y="5897880"/>
            <a:ext cx="1636776" cy="210312"/>
          </a:xfrm>
          <a:prstGeom prst="rect">
            <a:avLst/>
          </a:prstGeom>
          <a:noFill/>
          <a:ln/>
        </p:spPr>
        <p:txBody>
          <a:bodyPr wrap="square" lIns="0" tIns="0" rIns="0" bIns="0" rtlCol="0" anchor="ctr">
            <a:normAutofit/>
          </a:bodyPr>
          <a:lstStyle/>
          <a:p>
            <a:pPr marL="0" indent="0" algn="l">
              <a:buNone/>
            </a:pPr>
            <a:r>
              <a:rPr lang="en-US" sz="850" dirty="0">
                <a:solidFill>
                  <a:srgbClr val="5E6875"/>
                </a:solidFill>
                <a:latin typeface="Aptos" pitchFamily="34" charset="0"/>
                <a:ea typeface="Aptos" pitchFamily="34" charset="-122"/>
                <a:cs typeface="Aptos" pitchFamily="34" charset="-120"/>
              </a:rPr>
              <a:t>The user simply asks a question.</a:t>
            </a:r>
            <a:endParaRPr lang="en-US" sz="850" dirty="0"/>
          </a:p>
        </p:txBody>
      </p:sp>
      <p:sp>
        <p:nvSpPr>
          <p:cNvPr id="46" name="Shape 44"/>
          <p:cNvSpPr/>
          <p:nvPr/>
        </p:nvSpPr>
        <p:spPr>
          <a:xfrm>
            <a:off x="3438144" y="5614416"/>
            <a:ext cx="2359152" cy="621792"/>
          </a:xfrm>
          <a:prstGeom prst="roundRect">
            <a:avLst>
              <a:gd name="adj" fmla="val 17647"/>
            </a:avLst>
          </a:prstGeom>
          <a:solidFill>
            <a:srgbClr val="FFFFFF"/>
          </a:solidFill>
          <a:ln w="12700">
            <a:solidFill>
              <a:srgbClr val="DCE1E7"/>
            </a:solidFill>
            <a:prstDash val="solid"/>
          </a:ln>
        </p:spPr>
        <p:txBody>
          <a:bodyPr/>
          <a:lstStyle/>
          <a:p>
            <a:endParaRPr lang="en-CH"/>
          </a:p>
        </p:txBody>
      </p:sp>
      <p:sp>
        <p:nvSpPr>
          <p:cNvPr id="48" name="Text 46"/>
          <p:cNvSpPr/>
          <p:nvPr/>
        </p:nvSpPr>
        <p:spPr>
          <a:xfrm>
            <a:off x="3584448" y="5760720"/>
            <a:ext cx="292608" cy="292608"/>
          </a:xfrm>
          <a:prstGeom prst="rect">
            <a:avLst/>
          </a:prstGeom>
          <a:noFill/>
          <a:ln/>
        </p:spPr>
        <p:txBody>
          <a:bodyPr wrap="square" lIns="0" tIns="0" rIns="0" bIns="0" rtlCol="0" anchor="ctr">
            <a:normAutofit/>
          </a:bodyPr>
          <a:lstStyle/>
          <a:p>
            <a:pPr marL="0" indent="0" algn="ctr">
              <a:buNone/>
            </a:pPr>
            <a:r>
              <a:rPr lang="en-US" sz="930" b="1" dirty="0">
                <a:solidFill>
                  <a:srgbClr val="27313E"/>
                </a:solidFill>
                <a:latin typeface="Aptos" pitchFamily="34" charset="0"/>
                <a:ea typeface="Aptos" pitchFamily="34" charset="-122"/>
                <a:cs typeface="Aptos" pitchFamily="34" charset="-120"/>
              </a:rPr>
              <a:t>2</a:t>
            </a:r>
            <a:endParaRPr lang="en-US" sz="930" dirty="0"/>
          </a:p>
        </p:txBody>
      </p:sp>
      <p:sp>
        <p:nvSpPr>
          <p:cNvPr id="49" name="Text 47"/>
          <p:cNvSpPr/>
          <p:nvPr/>
        </p:nvSpPr>
        <p:spPr>
          <a:xfrm>
            <a:off x="3986784" y="5696712"/>
            <a:ext cx="1645920" cy="173736"/>
          </a:xfrm>
          <a:prstGeom prst="rect">
            <a:avLst/>
          </a:prstGeom>
          <a:noFill/>
          <a:ln/>
        </p:spPr>
        <p:txBody>
          <a:bodyPr wrap="square" lIns="0" tIns="0" rIns="0" bIns="0" rtlCol="0" anchor="ctr">
            <a:normAutofit/>
          </a:bodyPr>
          <a:lstStyle/>
          <a:p>
            <a:pPr marL="0" indent="0" algn="l">
              <a:buNone/>
            </a:pPr>
            <a:r>
              <a:rPr lang="en-US" sz="1010" b="1" dirty="0">
                <a:solidFill>
                  <a:srgbClr val="17202A"/>
                </a:solidFill>
                <a:latin typeface="Aptos" pitchFamily="34" charset="0"/>
                <a:ea typeface="Aptos" pitchFamily="34" charset="-122"/>
                <a:cs typeface="Aptos" pitchFamily="34" charset="-120"/>
              </a:rPr>
              <a:t>Better retrieval</a:t>
            </a:r>
            <a:endParaRPr lang="en-US" sz="1010" dirty="0"/>
          </a:p>
        </p:txBody>
      </p:sp>
      <p:sp>
        <p:nvSpPr>
          <p:cNvPr id="50" name="Text 48"/>
          <p:cNvSpPr/>
          <p:nvPr/>
        </p:nvSpPr>
        <p:spPr>
          <a:xfrm>
            <a:off x="3986784" y="5897880"/>
            <a:ext cx="1636776" cy="210312"/>
          </a:xfrm>
          <a:prstGeom prst="rect">
            <a:avLst/>
          </a:prstGeom>
          <a:noFill/>
          <a:ln/>
        </p:spPr>
        <p:txBody>
          <a:bodyPr wrap="square" lIns="0" tIns="0" rIns="0" bIns="0" rtlCol="0" anchor="ctr">
            <a:normAutofit fontScale="92500" lnSpcReduction="20000"/>
          </a:bodyPr>
          <a:lstStyle/>
          <a:p>
            <a:pPr marL="0" indent="0" algn="l">
              <a:buNone/>
            </a:pPr>
            <a:r>
              <a:rPr lang="en-US" sz="850" dirty="0">
                <a:solidFill>
                  <a:srgbClr val="5E6875"/>
                </a:solidFill>
                <a:latin typeface="Aptos" pitchFamily="34" charset="0"/>
                <a:ea typeface="Aptos" pitchFamily="34" charset="-122"/>
                <a:cs typeface="Aptos" pitchFamily="34" charset="-120"/>
              </a:rPr>
              <a:t>Different questions use different search modes.</a:t>
            </a:r>
            <a:endParaRPr lang="en-US" sz="850" dirty="0"/>
          </a:p>
        </p:txBody>
      </p:sp>
      <p:sp>
        <p:nvSpPr>
          <p:cNvPr id="51" name="Shape 49"/>
          <p:cNvSpPr/>
          <p:nvPr/>
        </p:nvSpPr>
        <p:spPr>
          <a:xfrm>
            <a:off x="6208776" y="5614416"/>
            <a:ext cx="2359152" cy="621792"/>
          </a:xfrm>
          <a:prstGeom prst="roundRect">
            <a:avLst>
              <a:gd name="adj" fmla="val 17647"/>
            </a:avLst>
          </a:prstGeom>
          <a:solidFill>
            <a:srgbClr val="FFFFFF"/>
          </a:solidFill>
          <a:ln w="12700">
            <a:solidFill>
              <a:srgbClr val="DCE1E7"/>
            </a:solidFill>
            <a:prstDash val="solid"/>
          </a:ln>
        </p:spPr>
        <p:txBody>
          <a:bodyPr/>
          <a:lstStyle/>
          <a:p>
            <a:endParaRPr lang="en-CH"/>
          </a:p>
        </p:txBody>
      </p:sp>
      <p:sp>
        <p:nvSpPr>
          <p:cNvPr id="54" name="Text 52"/>
          <p:cNvSpPr/>
          <p:nvPr/>
        </p:nvSpPr>
        <p:spPr>
          <a:xfrm>
            <a:off x="6757416" y="5696712"/>
            <a:ext cx="1645920" cy="173736"/>
          </a:xfrm>
          <a:prstGeom prst="rect">
            <a:avLst/>
          </a:prstGeom>
          <a:noFill/>
          <a:ln/>
        </p:spPr>
        <p:txBody>
          <a:bodyPr wrap="square" lIns="0" tIns="0" rIns="0" bIns="0" rtlCol="0" anchor="ctr">
            <a:normAutofit/>
          </a:bodyPr>
          <a:lstStyle/>
          <a:p>
            <a:pPr marL="0" indent="0" algn="l">
              <a:buNone/>
            </a:pPr>
            <a:r>
              <a:rPr lang="en-US" sz="1010" b="1" dirty="0">
                <a:solidFill>
                  <a:srgbClr val="17202A"/>
                </a:solidFill>
                <a:latin typeface="Aptos" pitchFamily="34" charset="0"/>
                <a:ea typeface="Aptos" pitchFamily="34" charset="-122"/>
                <a:cs typeface="Aptos" pitchFamily="34" charset="-120"/>
              </a:rPr>
              <a:t>Grounded answers</a:t>
            </a:r>
            <a:endParaRPr lang="en-US" sz="1010" dirty="0"/>
          </a:p>
        </p:txBody>
      </p:sp>
      <p:sp>
        <p:nvSpPr>
          <p:cNvPr id="55" name="Text 53"/>
          <p:cNvSpPr/>
          <p:nvPr/>
        </p:nvSpPr>
        <p:spPr>
          <a:xfrm>
            <a:off x="6757416" y="5897880"/>
            <a:ext cx="1636776" cy="210312"/>
          </a:xfrm>
          <a:prstGeom prst="rect">
            <a:avLst/>
          </a:prstGeom>
          <a:noFill/>
          <a:ln/>
        </p:spPr>
        <p:txBody>
          <a:bodyPr wrap="square" lIns="0" tIns="0" rIns="0" bIns="0" rtlCol="0" anchor="ctr">
            <a:normAutofit fontScale="92500" lnSpcReduction="20000"/>
          </a:bodyPr>
          <a:lstStyle/>
          <a:p>
            <a:pPr marL="0" indent="0" algn="l">
              <a:buNone/>
            </a:pPr>
            <a:r>
              <a:rPr lang="en-US" sz="850" dirty="0">
                <a:solidFill>
                  <a:srgbClr val="5E6875"/>
                </a:solidFill>
                <a:latin typeface="Aptos" pitchFamily="34" charset="0"/>
                <a:ea typeface="Aptos" pitchFamily="34" charset="-122"/>
                <a:cs typeface="Aptos" pitchFamily="34" charset="-120"/>
              </a:rPr>
              <a:t>Responses are based on SFOE evidence.</a:t>
            </a:r>
            <a:endParaRPr lang="en-US" sz="850" dirty="0"/>
          </a:p>
        </p:txBody>
      </p:sp>
      <p:sp>
        <p:nvSpPr>
          <p:cNvPr id="56" name="Shape 54"/>
          <p:cNvSpPr/>
          <p:nvPr/>
        </p:nvSpPr>
        <p:spPr>
          <a:xfrm>
            <a:off x="8979408" y="5614416"/>
            <a:ext cx="2359152" cy="621792"/>
          </a:xfrm>
          <a:prstGeom prst="roundRect">
            <a:avLst>
              <a:gd name="adj" fmla="val 17647"/>
            </a:avLst>
          </a:prstGeom>
          <a:solidFill>
            <a:srgbClr val="FFFFFF"/>
          </a:solidFill>
          <a:ln w="12700">
            <a:solidFill>
              <a:srgbClr val="DCE1E7"/>
            </a:solidFill>
            <a:prstDash val="solid"/>
          </a:ln>
        </p:spPr>
        <p:txBody>
          <a:bodyPr/>
          <a:lstStyle/>
          <a:p>
            <a:endParaRPr lang="en-CH"/>
          </a:p>
        </p:txBody>
      </p:sp>
      <p:sp>
        <p:nvSpPr>
          <p:cNvPr id="57" name="Shape 55"/>
          <p:cNvSpPr/>
          <p:nvPr/>
        </p:nvSpPr>
        <p:spPr>
          <a:xfrm>
            <a:off x="9125712" y="5760720"/>
            <a:ext cx="292608" cy="292608"/>
          </a:xfrm>
          <a:prstGeom prst="ellipse">
            <a:avLst/>
          </a:prstGeom>
          <a:solidFill>
            <a:srgbClr val="FF0000"/>
          </a:solidFill>
          <a:ln w="12700">
            <a:solidFill>
              <a:srgbClr val="E9EDF2"/>
            </a:solidFill>
            <a:prstDash val="solid"/>
          </a:ln>
        </p:spPr>
        <p:txBody>
          <a:bodyPr/>
          <a:lstStyle/>
          <a:p>
            <a:endParaRPr lang="en-CH">
              <a:solidFill>
                <a:schemeClr val="bg1"/>
              </a:solidFill>
            </a:endParaRPr>
          </a:p>
        </p:txBody>
      </p:sp>
      <p:sp>
        <p:nvSpPr>
          <p:cNvPr id="58" name="Text 56"/>
          <p:cNvSpPr/>
          <p:nvPr/>
        </p:nvSpPr>
        <p:spPr>
          <a:xfrm>
            <a:off x="9125712" y="5760720"/>
            <a:ext cx="292608" cy="292608"/>
          </a:xfrm>
          <a:prstGeom prst="rect">
            <a:avLst/>
          </a:prstGeom>
          <a:noFill/>
          <a:ln/>
        </p:spPr>
        <p:txBody>
          <a:bodyPr wrap="square" lIns="0" tIns="0" rIns="0" bIns="0" rtlCol="0" anchor="ctr">
            <a:normAutofit/>
          </a:bodyPr>
          <a:lstStyle/>
          <a:p>
            <a:pPr marL="0" indent="0" algn="ctr">
              <a:buNone/>
            </a:pPr>
            <a:r>
              <a:rPr lang="en-US" sz="930" b="1" dirty="0">
                <a:solidFill>
                  <a:schemeClr val="bg1"/>
                </a:solidFill>
                <a:latin typeface="Aptos" pitchFamily="34" charset="0"/>
                <a:ea typeface="Aptos" pitchFamily="34" charset="-122"/>
                <a:cs typeface="Aptos" pitchFamily="34" charset="-120"/>
              </a:rPr>
              <a:t>4</a:t>
            </a:r>
            <a:endParaRPr lang="en-US" sz="930" dirty="0">
              <a:solidFill>
                <a:schemeClr val="bg1"/>
              </a:solidFill>
            </a:endParaRPr>
          </a:p>
        </p:txBody>
      </p:sp>
      <p:sp>
        <p:nvSpPr>
          <p:cNvPr id="59" name="Text 57"/>
          <p:cNvSpPr/>
          <p:nvPr/>
        </p:nvSpPr>
        <p:spPr>
          <a:xfrm>
            <a:off x="9528048" y="5696712"/>
            <a:ext cx="1645920" cy="173736"/>
          </a:xfrm>
          <a:prstGeom prst="rect">
            <a:avLst/>
          </a:prstGeom>
          <a:noFill/>
          <a:ln/>
        </p:spPr>
        <p:txBody>
          <a:bodyPr wrap="square" lIns="0" tIns="0" rIns="0" bIns="0" rtlCol="0" anchor="ctr">
            <a:normAutofit/>
          </a:bodyPr>
          <a:lstStyle/>
          <a:p>
            <a:pPr marL="0" indent="0" algn="l">
              <a:buNone/>
            </a:pPr>
            <a:r>
              <a:rPr lang="en-US" sz="1010" b="1" dirty="0">
                <a:solidFill>
                  <a:srgbClr val="17202A"/>
                </a:solidFill>
                <a:latin typeface="Aptos" pitchFamily="34" charset="0"/>
                <a:ea typeface="Aptos" pitchFamily="34" charset="-122"/>
                <a:cs typeface="Aptos" pitchFamily="34" charset="-120"/>
              </a:rPr>
              <a:t>Source transparency</a:t>
            </a:r>
            <a:endParaRPr lang="en-US" sz="1010" dirty="0"/>
          </a:p>
        </p:txBody>
      </p:sp>
      <p:sp>
        <p:nvSpPr>
          <p:cNvPr id="60" name="Text 58"/>
          <p:cNvSpPr/>
          <p:nvPr/>
        </p:nvSpPr>
        <p:spPr>
          <a:xfrm>
            <a:off x="9528048" y="5897880"/>
            <a:ext cx="1636776" cy="210312"/>
          </a:xfrm>
          <a:prstGeom prst="rect">
            <a:avLst/>
          </a:prstGeom>
          <a:noFill/>
          <a:ln/>
        </p:spPr>
        <p:txBody>
          <a:bodyPr wrap="square" lIns="0" tIns="0" rIns="0" bIns="0" rtlCol="0" anchor="ctr">
            <a:normAutofit/>
          </a:bodyPr>
          <a:lstStyle/>
          <a:p>
            <a:pPr marL="0" indent="0" algn="l">
              <a:buNone/>
            </a:pPr>
            <a:r>
              <a:rPr lang="en-US" sz="850" dirty="0">
                <a:solidFill>
                  <a:srgbClr val="5E6875"/>
                </a:solidFill>
                <a:latin typeface="Aptos" pitchFamily="34" charset="0"/>
                <a:ea typeface="Aptos" pitchFamily="34" charset="-122"/>
                <a:cs typeface="Aptos" pitchFamily="34" charset="-120"/>
              </a:rPr>
              <a:t>Official sources remain visible.</a:t>
            </a:r>
            <a:endParaRPr lang="en-US" sz="850" dirty="0"/>
          </a:p>
        </p:txBody>
      </p:sp>
      <p:sp>
        <p:nvSpPr>
          <p:cNvPr id="61" name="Shape 59"/>
          <p:cNvSpPr/>
          <p:nvPr/>
        </p:nvSpPr>
        <p:spPr>
          <a:xfrm>
            <a:off x="4041648" y="5065776"/>
            <a:ext cx="4114800" cy="310896"/>
          </a:xfrm>
          <a:prstGeom prst="roundRect">
            <a:avLst>
              <a:gd name="adj" fmla="val 35294"/>
            </a:avLst>
          </a:prstGeom>
          <a:solidFill>
            <a:srgbClr val="27313E"/>
          </a:solidFill>
          <a:ln w="12700">
            <a:solidFill>
              <a:srgbClr val="27313E"/>
            </a:solidFill>
            <a:prstDash val="solid"/>
          </a:ln>
        </p:spPr>
        <p:txBody>
          <a:bodyPr/>
          <a:lstStyle/>
          <a:p>
            <a:endParaRPr lang="en-CH"/>
          </a:p>
        </p:txBody>
      </p:sp>
      <p:sp>
        <p:nvSpPr>
          <p:cNvPr id="62" name="Text 60"/>
          <p:cNvSpPr/>
          <p:nvPr/>
        </p:nvSpPr>
        <p:spPr>
          <a:xfrm>
            <a:off x="4178808" y="5111496"/>
            <a:ext cx="3858768" cy="182880"/>
          </a:xfrm>
          <a:prstGeom prst="rect">
            <a:avLst/>
          </a:prstGeom>
          <a:noFill/>
          <a:ln/>
        </p:spPr>
        <p:txBody>
          <a:bodyPr wrap="square" lIns="0" tIns="0" rIns="0" bIns="0" rtlCol="0" anchor="ctr">
            <a:normAutofit fontScale="92500"/>
          </a:bodyPr>
          <a:lstStyle/>
          <a:p>
            <a:pPr marL="0" indent="0" algn="ctr">
              <a:buNone/>
            </a:pPr>
            <a:r>
              <a:rPr lang="en-US" sz="1000" b="1" dirty="0">
                <a:solidFill>
                  <a:srgbClr val="FFFFFF"/>
                </a:solidFill>
                <a:latin typeface="Aptos" pitchFamily="34" charset="0"/>
                <a:ea typeface="Aptos" pitchFamily="34" charset="-122"/>
                <a:cs typeface="Aptos" pitchFamily="34" charset="-120"/>
              </a:rPr>
              <a:t>The Gateway provides trusted knowledge.  The Agent makes it usable.</a:t>
            </a:r>
            <a:endParaRPr lang="en-US" sz="1000" dirty="0"/>
          </a:p>
        </p:txBody>
      </p:sp>
      <p:sp>
        <p:nvSpPr>
          <p:cNvPr id="63" name="Slide Number Placeholder 0"/>
          <p:cNvSpPr>
            <a:spLocks noGrp="1"/>
          </p:cNvSpPr>
          <p:nvPr>
            <p:ph type="sldNum" sz="quarter" idx="4294967295"/>
          </p:nvPr>
        </p:nvSpPr>
        <p:spPr>
          <a:xfrm>
            <a:off x="11411712" y="6473952"/>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A0A6AF"/>
                </a:solidFill>
                <a:latin typeface="Aptos"/>
                <a:ea typeface="Aptos"/>
                <a:cs typeface="Aptos"/>
              </a:defRPr>
            </a:lvl1pPr>
          </a:lstStyle>
          <a:p>
            <a:pPr algn="r"/>
            <a:fld id="{F7021451-1387-4CA6-816F-3879F97B5CBC}" type="slidenum">
              <a:rPr lang="en-US" b="0"/>
              <a:t>1</a:t>
            </a:fld>
            <a:endParaRPr lang="en-US"/>
          </a:p>
        </p:txBody>
      </p:sp>
      <p:sp>
        <p:nvSpPr>
          <p:cNvPr id="69" name="Text 38">
            <a:extLst>
              <a:ext uri="{FF2B5EF4-FFF2-40B4-BE49-F238E27FC236}">
                <a16:creationId xmlns:a16="http://schemas.microsoft.com/office/drawing/2014/main" id="{2ED247D1-B88B-8DAC-BCDB-0FB382A17860}"/>
              </a:ext>
            </a:extLst>
          </p:cNvPr>
          <p:cNvSpPr/>
          <p:nvPr/>
        </p:nvSpPr>
        <p:spPr>
          <a:xfrm>
            <a:off x="10277856" y="6336792"/>
            <a:ext cx="1266444" cy="402335"/>
          </a:xfrm>
          <a:prstGeom prst="rect">
            <a:avLst/>
          </a:prstGeom>
          <a:noFill/>
          <a:ln/>
        </p:spPr>
        <p:txBody>
          <a:bodyPr wrap="square" lIns="0" tIns="0" rIns="0" bIns="0" rtlCol="0" anchor="ctr">
            <a:normAutofit/>
          </a:bodyPr>
          <a:lstStyle/>
          <a:p>
            <a:pPr marL="0" indent="0" algn="l">
              <a:buNone/>
            </a:pPr>
            <a:r>
              <a:rPr lang="en-US" sz="1200" b="1" dirty="0">
                <a:solidFill>
                  <a:srgbClr val="17202A"/>
                </a:solidFill>
                <a:latin typeface="Aptos" pitchFamily="34" charset="0"/>
                <a:ea typeface="Aptos" pitchFamily="34" charset="-122"/>
                <a:cs typeface="Aptos" pitchFamily="34" charset="-120"/>
              </a:rPr>
              <a:t>Mohsen Kalantar</a:t>
            </a:r>
            <a:endParaRPr lang="en-US" sz="1200" dirty="0"/>
          </a:p>
        </p:txBody>
      </p:sp>
      <p:sp>
        <p:nvSpPr>
          <p:cNvPr id="76" name="Shape 55">
            <a:extLst>
              <a:ext uri="{FF2B5EF4-FFF2-40B4-BE49-F238E27FC236}">
                <a16:creationId xmlns:a16="http://schemas.microsoft.com/office/drawing/2014/main" id="{87367C9D-B8B7-EAB8-8346-D84B52D2B540}"/>
              </a:ext>
            </a:extLst>
          </p:cNvPr>
          <p:cNvSpPr/>
          <p:nvPr/>
        </p:nvSpPr>
        <p:spPr>
          <a:xfrm>
            <a:off x="6300216" y="5751576"/>
            <a:ext cx="292608" cy="292608"/>
          </a:xfrm>
          <a:prstGeom prst="ellipse">
            <a:avLst/>
          </a:prstGeom>
          <a:solidFill>
            <a:srgbClr val="FF0000"/>
          </a:solidFill>
          <a:ln w="12700">
            <a:solidFill>
              <a:srgbClr val="E9EDF2"/>
            </a:solidFill>
            <a:prstDash val="solid"/>
          </a:ln>
        </p:spPr>
        <p:txBody>
          <a:bodyPr/>
          <a:lstStyle/>
          <a:p>
            <a:endParaRPr lang="en-CH" dirty="0">
              <a:solidFill>
                <a:schemeClr val="bg1"/>
              </a:solidFill>
            </a:endParaRPr>
          </a:p>
        </p:txBody>
      </p:sp>
      <p:sp>
        <p:nvSpPr>
          <p:cNvPr id="78" name="Text 56">
            <a:extLst>
              <a:ext uri="{FF2B5EF4-FFF2-40B4-BE49-F238E27FC236}">
                <a16:creationId xmlns:a16="http://schemas.microsoft.com/office/drawing/2014/main" id="{D99905BA-0021-FBFD-5D97-C9BD8D5B1876}"/>
              </a:ext>
            </a:extLst>
          </p:cNvPr>
          <p:cNvSpPr/>
          <p:nvPr/>
        </p:nvSpPr>
        <p:spPr>
          <a:xfrm>
            <a:off x="6300216" y="5751576"/>
            <a:ext cx="292608" cy="292608"/>
          </a:xfrm>
          <a:prstGeom prst="rect">
            <a:avLst/>
          </a:prstGeom>
          <a:noFill/>
          <a:ln/>
        </p:spPr>
        <p:txBody>
          <a:bodyPr wrap="square" lIns="0" tIns="0" rIns="0" bIns="0" rtlCol="0" anchor="ctr">
            <a:normAutofit/>
          </a:bodyPr>
          <a:lstStyle/>
          <a:p>
            <a:pPr marL="0" indent="0" algn="ctr">
              <a:buNone/>
            </a:pPr>
            <a:r>
              <a:rPr lang="en-US" sz="930" b="1" dirty="0">
                <a:solidFill>
                  <a:schemeClr val="bg1"/>
                </a:solidFill>
                <a:latin typeface="Aptos" pitchFamily="34" charset="0"/>
                <a:ea typeface="Aptos" pitchFamily="34" charset="-122"/>
                <a:cs typeface="Aptos" pitchFamily="34" charset="-120"/>
              </a:rPr>
              <a:t>3</a:t>
            </a:r>
            <a:endParaRPr lang="en-US" sz="930" dirty="0">
              <a:solidFill>
                <a:schemeClr val="bg1"/>
              </a:solidFill>
            </a:endParaRPr>
          </a:p>
        </p:txBody>
      </p:sp>
      <p:sp>
        <p:nvSpPr>
          <p:cNvPr id="80" name="Shape 55">
            <a:extLst>
              <a:ext uri="{FF2B5EF4-FFF2-40B4-BE49-F238E27FC236}">
                <a16:creationId xmlns:a16="http://schemas.microsoft.com/office/drawing/2014/main" id="{DD874380-F575-4535-FCD1-5B53B7CCB417}"/>
              </a:ext>
            </a:extLst>
          </p:cNvPr>
          <p:cNvSpPr/>
          <p:nvPr/>
        </p:nvSpPr>
        <p:spPr>
          <a:xfrm>
            <a:off x="3557016" y="5751576"/>
            <a:ext cx="292608" cy="292608"/>
          </a:xfrm>
          <a:prstGeom prst="ellipse">
            <a:avLst/>
          </a:prstGeom>
          <a:solidFill>
            <a:srgbClr val="FF0000"/>
          </a:solidFill>
          <a:ln w="12700">
            <a:solidFill>
              <a:srgbClr val="E9EDF2"/>
            </a:solidFill>
            <a:prstDash val="solid"/>
          </a:ln>
        </p:spPr>
        <p:txBody>
          <a:bodyPr/>
          <a:lstStyle/>
          <a:p>
            <a:endParaRPr lang="en-CH">
              <a:solidFill>
                <a:schemeClr val="bg1"/>
              </a:solidFill>
            </a:endParaRPr>
          </a:p>
        </p:txBody>
      </p:sp>
      <p:sp>
        <p:nvSpPr>
          <p:cNvPr id="82" name="Text 56">
            <a:extLst>
              <a:ext uri="{FF2B5EF4-FFF2-40B4-BE49-F238E27FC236}">
                <a16:creationId xmlns:a16="http://schemas.microsoft.com/office/drawing/2014/main" id="{81566635-3ED6-3498-4341-78FEA61CAE69}"/>
              </a:ext>
            </a:extLst>
          </p:cNvPr>
          <p:cNvSpPr/>
          <p:nvPr/>
        </p:nvSpPr>
        <p:spPr>
          <a:xfrm>
            <a:off x="3557016" y="5751576"/>
            <a:ext cx="292608" cy="292608"/>
          </a:xfrm>
          <a:prstGeom prst="rect">
            <a:avLst/>
          </a:prstGeom>
          <a:noFill/>
          <a:ln/>
        </p:spPr>
        <p:txBody>
          <a:bodyPr wrap="square" lIns="0" tIns="0" rIns="0" bIns="0" rtlCol="0" anchor="ctr">
            <a:normAutofit/>
          </a:bodyPr>
          <a:lstStyle/>
          <a:p>
            <a:pPr marL="0" indent="0" algn="ctr">
              <a:buNone/>
            </a:pPr>
            <a:r>
              <a:rPr lang="en-US" sz="930" b="1" dirty="0">
                <a:solidFill>
                  <a:schemeClr val="bg1"/>
                </a:solidFill>
                <a:latin typeface="Aptos" pitchFamily="34" charset="0"/>
                <a:ea typeface="Aptos" pitchFamily="34" charset="-122"/>
                <a:cs typeface="Aptos" pitchFamily="34" charset="-120"/>
              </a:rPr>
              <a:t>2</a:t>
            </a:r>
            <a:endParaRPr lang="en-US" sz="930" dirty="0">
              <a:solidFill>
                <a:schemeClr val="bg1"/>
              </a:solidFill>
            </a:endParaRPr>
          </a:p>
        </p:txBody>
      </p:sp>
      <p:sp>
        <p:nvSpPr>
          <p:cNvPr id="84" name="Shape 55">
            <a:extLst>
              <a:ext uri="{FF2B5EF4-FFF2-40B4-BE49-F238E27FC236}">
                <a16:creationId xmlns:a16="http://schemas.microsoft.com/office/drawing/2014/main" id="{C21F6AAB-B692-4462-F798-F2B0AB3A7991}"/>
              </a:ext>
            </a:extLst>
          </p:cNvPr>
          <p:cNvSpPr/>
          <p:nvPr/>
        </p:nvSpPr>
        <p:spPr>
          <a:xfrm>
            <a:off x="850392" y="5760720"/>
            <a:ext cx="292608" cy="292608"/>
          </a:xfrm>
          <a:prstGeom prst="ellipse">
            <a:avLst/>
          </a:prstGeom>
          <a:solidFill>
            <a:srgbClr val="FF0000"/>
          </a:solidFill>
          <a:ln w="12700">
            <a:solidFill>
              <a:srgbClr val="E9EDF2"/>
            </a:solidFill>
            <a:prstDash val="solid"/>
          </a:ln>
        </p:spPr>
        <p:txBody>
          <a:bodyPr/>
          <a:lstStyle/>
          <a:p>
            <a:endParaRPr lang="en-CH">
              <a:solidFill>
                <a:schemeClr val="bg1"/>
              </a:solidFill>
            </a:endParaRPr>
          </a:p>
        </p:txBody>
      </p:sp>
      <p:sp>
        <p:nvSpPr>
          <p:cNvPr id="86" name="Text 56">
            <a:extLst>
              <a:ext uri="{FF2B5EF4-FFF2-40B4-BE49-F238E27FC236}">
                <a16:creationId xmlns:a16="http://schemas.microsoft.com/office/drawing/2014/main" id="{A8B21345-FB4F-1F3D-B95D-8BC31ABB1BCB}"/>
              </a:ext>
            </a:extLst>
          </p:cNvPr>
          <p:cNvSpPr/>
          <p:nvPr/>
        </p:nvSpPr>
        <p:spPr>
          <a:xfrm>
            <a:off x="850392" y="5760720"/>
            <a:ext cx="292608" cy="292608"/>
          </a:xfrm>
          <a:prstGeom prst="rect">
            <a:avLst/>
          </a:prstGeom>
          <a:noFill/>
          <a:ln/>
        </p:spPr>
        <p:txBody>
          <a:bodyPr wrap="square" lIns="0" tIns="0" rIns="0" bIns="0" rtlCol="0" anchor="ctr">
            <a:normAutofit/>
          </a:bodyPr>
          <a:lstStyle/>
          <a:p>
            <a:pPr marL="0" indent="0" algn="ctr">
              <a:buNone/>
            </a:pPr>
            <a:r>
              <a:rPr lang="en-US" sz="930" b="1" dirty="0">
                <a:solidFill>
                  <a:schemeClr val="bg1"/>
                </a:solidFill>
                <a:latin typeface="Aptos" pitchFamily="34" charset="0"/>
                <a:ea typeface="Aptos" pitchFamily="34" charset="-122"/>
                <a:cs typeface="Aptos" pitchFamily="34" charset="-120"/>
              </a:rPr>
              <a:t>1</a:t>
            </a:r>
            <a:endParaRPr lang="en-US" sz="93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87A2AA-4643-986C-94CE-5C9F8D37F79C}"/>
              </a:ext>
            </a:extLst>
          </p:cNvPr>
          <p:cNvPicPr>
            <a:picLocks noChangeAspect="1"/>
          </p:cNvPicPr>
          <p:nvPr/>
        </p:nvPicPr>
        <p:blipFill>
          <a:blip r:embed="rId2"/>
          <a:stretch>
            <a:fillRect/>
          </a:stretch>
        </p:blipFill>
        <p:spPr>
          <a:xfrm>
            <a:off x="196158" y="425905"/>
            <a:ext cx="5352026" cy="5907840"/>
          </a:xfrm>
          <a:prstGeom prst="rect">
            <a:avLst/>
          </a:prstGeom>
        </p:spPr>
      </p:pic>
      <p:pic>
        <p:nvPicPr>
          <p:cNvPr id="7" name="Picture 6">
            <a:extLst>
              <a:ext uri="{FF2B5EF4-FFF2-40B4-BE49-F238E27FC236}">
                <a16:creationId xmlns:a16="http://schemas.microsoft.com/office/drawing/2014/main" id="{0D832264-2988-398B-E332-72019991F17A}"/>
              </a:ext>
            </a:extLst>
          </p:cNvPr>
          <p:cNvPicPr>
            <a:picLocks noChangeAspect="1"/>
          </p:cNvPicPr>
          <p:nvPr/>
        </p:nvPicPr>
        <p:blipFill>
          <a:blip r:embed="rId3"/>
          <a:stretch>
            <a:fillRect/>
          </a:stretch>
        </p:blipFill>
        <p:spPr>
          <a:xfrm>
            <a:off x="5724274" y="477175"/>
            <a:ext cx="5689237" cy="5856569"/>
          </a:xfrm>
          <a:prstGeom prst="rect">
            <a:avLst/>
          </a:prstGeom>
        </p:spPr>
      </p:pic>
      <p:sp>
        <p:nvSpPr>
          <p:cNvPr id="9" name="Text 0">
            <a:extLst>
              <a:ext uri="{FF2B5EF4-FFF2-40B4-BE49-F238E27FC236}">
                <a16:creationId xmlns:a16="http://schemas.microsoft.com/office/drawing/2014/main" id="{17BC6C91-6084-7785-C170-EBD1BA09AD2B}"/>
              </a:ext>
            </a:extLst>
          </p:cNvPr>
          <p:cNvSpPr/>
          <p:nvPr/>
        </p:nvSpPr>
        <p:spPr>
          <a:xfrm>
            <a:off x="530352" y="0"/>
            <a:ext cx="7772400" cy="420624"/>
          </a:xfrm>
          <a:prstGeom prst="rect">
            <a:avLst/>
          </a:prstGeom>
          <a:noFill/>
          <a:ln/>
        </p:spPr>
        <p:txBody>
          <a:bodyPr wrap="square" lIns="0" tIns="0" rIns="0" bIns="0" rtlCol="0" anchor="ctr">
            <a:normAutofit fontScale="92500"/>
          </a:bodyPr>
          <a:lstStyle/>
          <a:p>
            <a:pPr marL="0" indent="0">
              <a:buNone/>
            </a:pPr>
            <a:r>
              <a:rPr lang="en-US" sz="2600" b="1" dirty="0">
                <a:solidFill>
                  <a:srgbClr val="17202A"/>
                </a:solidFill>
                <a:latin typeface="Aptos Display" pitchFamily="34" charset="0"/>
                <a:ea typeface="Aptos Display" pitchFamily="34" charset="-122"/>
                <a:cs typeface="Aptos Display" pitchFamily="34" charset="-120"/>
              </a:rPr>
              <a:t>Prototype Demo – From Question to Trusted SFOE Answer</a:t>
            </a:r>
            <a:endParaRPr lang="en-US" sz="2600" dirty="0"/>
          </a:p>
        </p:txBody>
      </p:sp>
      <p:sp>
        <p:nvSpPr>
          <p:cNvPr id="13" name="Text 38">
            <a:extLst>
              <a:ext uri="{FF2B5EF4-FFF2-40B4-BE49-F238E27FC236}">
                <a16:creationId xmlns:a16="http://schemas.microsoft.com/office/drawing/2014/main" id="{41958D88-F89A-E511-6EF8-303578E7400B}"/>
              </a:ext>
            </a:extLst>
          </p:cNvPr>
          <p:cNvSpPr/>
          <p:nvPr/>
        </p:nvSpPr>
        <p:spPr>
          <a:xfrm>
            <a:off x="10277856" y="6336792"/>
            <a:ext cx="1266444" cy="402335"/>
          </a:xfrm>
          <a:prstGeom prst="rect">
            <a:avLst/>
          </a:prstGeom>
          <a:noFill/>
          <a:ln/>
        </p:spPr>
        <p:txBody>
          <a:bodyPr wrap="square" lIns="0" tIns="0" rIns="0" bIns="0" rtlCol="0" anchor="ctr">
            <a:normAutofit/>
          </a:bodyPr>
          <a:lstStyle/>
          <a:p>
            <a:pPr marL="0" indent="0" algn="l">
              <a:buNone/>
            </a:pPr>
            <a:r>
              <a:rPr lang="en-US" sz="1200" b="1" dirty="0">
                <a:solidFill>
                  <a:srgbClr val="17202A"/>
                </a:solidFill>
                <a:latin typeface="Aptos" pitchFamily="34" charset="0"/>
                <a:ea typeface="Aptos" pitchFamily="34" charset="-122"/>
                <a:cs typeface="Aptos" pitchFamily="34" charset="-120"/>
              </a:rPr>
              <a:t>Mohsen Kalantar</a:t>
            </a:r>
            <a:endParaRPr lang="en-US" sz="1200" dirty="0"/>
          </a:p>
        </p:txBody>
      </p:sp>
    </p:spTree>
    <p:extLst>
      <p:ext uri="{BB962C8B-B14F-4D97-AF65-F5344CB8AC3E}">
        <p14:creationId xmlns:p14="http://schemas.microsoft.com/office/powerpoint/2010/main" val="3551314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330</Words>
  <Application>Microsoft Office PowerPoint</Application>
  <PresentationFormat>Widescreen</PresentationFormat>
  <Paragraphs>58</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Energy Data Hackdays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SFOE Open Energy Knowledge Agent – One-page presentation</dc:title>
  <dc:subject>Energy Data Hackdays 2026 – SFOE Open Energy Knowledge Agent</dc:subject>
  <dc:creator>OpenAI</dc:creator>
  <cp:lastModifiedBy>KALANTAR NEYESTANAKI Mohsen (EQUANS Switzerland)</cp:lastModifiedBy>
  <cp:revision>9</cp:revision>
  <dcterms:created xsi:type="dcterms:W3CDTF">2026-09-11T09:40:51Z</dcterms:created>
  <dcterms:modified xsi:type="dcterms:W3CDTF">2026-09-11T10:42:26Z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4a238cc-6af3-4341-9d32-201b7e04331f_Enabled">
    <vt:lpwstr>true</vt:lpwstr>
  </property>
  <property fmtid="{D5CDD505-2E9C-101B-9397-08002B2CF9AE}" pid="3" name="MSIP_Label_64a238cc-6af3-4341-9d32-201b7e04331f_SetDate">
    <vt:lpwstr>2026-09-11T09:54:07Z</vt:lpwstr>
  </property>
  <property fmtid="{D5CDD505-2E9C-101B-9397-08002B2CF9AE}" pid="4" name="MSIP_Label_64a238cc-6af3-4341-9d32-201b7e04331f_Method">
    <vt:lpwstr>Standard</vt:lpwstr>
  </property>
  <property fmtid="{D5CDD505-2E9C-101B-9397-08002B2CF9AE}" pid="5" name="MSIP_Label_64a238cc-6af3-4341-9d32-201b7e04331f_Name">
    <vt:lpwstr>Internal</vt:lpwstr>
  </property>
  <property fmtid="{D5CDD505-2E9C-101B-9397-08002B2CF9AE}" pid="6" name="MSIP_Label_64a238cc-6af3-4341-9d32-201b7e04331f_SiteId">
    <vt:lpwstr>09ebfde1-6505-4c31-942f-18875ff0189d</vt:lpwstr>
  </property>
  <property fmtid="{D5CDD505-2E9C-101B-9397-08002B2CF9AE}" pid="7" name="MSIP_Label_64a238cc-6af3-4341-9d32-201b7e04331f_ActionId">
    <vt:lpwstr>d7ca67bd-b8a0-470e-b882-bd58cbe24774</vt:lpwstr>
  </property>
  <property fmtid="{D5CDD505-2E9C-101B-9397-08002B2CF9AE}" pid="8" name="MSIP_Label_64a238cc-6af3-4341-9d32-201b7e04331f_ContentBits">
    <vt:lpwstr>0</vt:lpwstr>
  </property>
  <property fmtid="{D5CDD505-2E9C-101B-9397-08002B2CF9AE}" pid="9" name="MSIP_Label_64a238cc-6af3-4341-9d32-201b7e04331f_Tag">
    <vt:lpwstr>10, 3, 0, 1</vt:lpwstr>
  </property>
</Properties>
</file>